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6e79540b0d4d78" /><Relationship Type="http://schemas.openxmlformats.org/officeDocument/2006/relationships/extended-properties" Target="/docProps/app.xml" Id="R1f968828970d4477" /><Relationship Type="http://schemas.openxmlformats.org/officeDocument/2006/relationships/officeDocument" Target="/ppt/presentation.xml" Id="R1d6da95d8db247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13ec460b504af8"/>
  </p:sldMasterIdLst>
  <p:notesMasterIdLst>
    <p:notesMasterId xmlns:r="http://schemas.openxmlformats.org/officeDocument/2006/relationships" r:id="R22f39ce0d8974b01"/>
  </p:notesMasterIdLst>
  <p:sldIdLst>
    <p:sldId xmlns:r="http://schemas.openxmlformats.org/officeDocument/2006/relationships" id="256" r:id="R4a291b96cd4840e6"/>
    <p:sldId xmlns:r="http://schemas.openxmlformats.org/officeDocument/2006/relationships" id="257" r:id="Re7af5930c1254cdf"/>
    <p:sldId xmlns:r="http://schemas.openxmlformats.org/officeDocument/2006/relationships" id="258" r:id="R56866a057b22460e"/>
    <p:sldId xmlns:r="http://schemas.openxmlformats.org/officeDocument/2006/relationships" id="259" r:id="R8e3cc335ce6a4f72"/>
    <p:sldId xmlns:r="http://schemas.openxmlformats.org/officeDocument/2006/relationships" id="260" r:id="Rcdd5fcf4aa4046cc"/>
    <p:sldId xmlns:r="http://schemas.openxmlformats.org/officeDocument/2006/relationships" id="261" r:id="R374e104341274cff"/>
    <p:sldId xmlns:r="http://schemas.openxmlformats.org/officeDocument/2006/relationships" id="262" r:id="R64a872be809f45a1"/>
    <p:sldId xmlns:r="http://schemas.openxmlformats.org/officeDocument/2006/relationships" id="263" r:id="Rd3043b26d84a496f"/>
    <p:sldId xmlns:r="http://schemas.openxmlformats.org/officeDocument/2006/relationships" id="264" r:id="R8d0efeb0fbda406b"/>
    <p:sldId xmlns:r="http://schemas.openxmlformats.org/officeDocument/2006/relationships" id="265" r:id="Rd941a282a36a4d8a"/>
    <p:sldId xmlns:r="http://schemas.openxmlformats.org/officeDocument/2006/relationships" id="266" r:id="Rbb56a26d5a704b1b"/>
    <p:sldId xmlns:r="http://schemas.openxmlformats.org/officeDocument/2006/relationships" id="267" r:id="R341ee535df994e13"/>
    <p:sldId xmlns:r="http://schemas.openxmlformats.org/officeDocument/2006/relationships" id="268" r:id="R48bb0a8543ce4e06"/>
    <p:sldId xmlns:r="http://schemas.openxmlformats.org/officeDocument/2006/relationships" id="269" r:id="R7c15088a087d46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95c4aad0144a56" /><Relationship Type="http://schemas.openxmlformats.org/officeDocument/2006/relationships/slideMaster" Target="/ppt/slideMasters/slideMaster1.xml" Id="R8d13ec460b504af8" /><Relationship Type="http://schemas.openxmlformats.org/officeDocument/2006/relationships/notesMaster" Target="/ppt/notesMasters/notesMaster1.xml" Id="R22f39ce0d8974b01" /><Relationship Type="http://schemas.openxmlformats.org/officeDocument/2006/relationships/presProps" Target="/ppt/presProps.xml" Id="R95c9720d0a244e6c" /><Relationship Type="http://schemas.openxmlformats.org/officeDocument/2006/relationships/tableStyles" Target="/ppt/tableStyles.xml" Id="R60f56cbf1d2e41bf" /><Relationship Type="http://schemas.openxmlformats.org/officeDocument/2006/relationships/slide" Target="/ppt/slides/slide1.xml" Id="R4a291b96cd4840e6" /><Relationship Type="http://schemas.openxmlformats.org/officeDocument/2006/relationships/slide" Target="/ppt/slides/slide2.xml" Id="Re7af5930c1254cdf" /><Relationship Type="http://schemas.openxmlformats.org/officeDocument/2006/relationships/slide" Target="/ppt/slides/slide3.xml" Id="R56866a057b22460e" /><Relationship Type="http://schemas.openxmlformats.org/officeDocument/2006/relationships/slide" Target="/ppt/slides/slide4.xml" Id="R8e3cc335ce6a4f72" /><Relationship Type="http://schemas.openxmlformats.org/officeDocument/2006/relationships/slide" Target="/ppt/slides/slide5.xml" Id="Rcdd5fcf4aa4046cc" /><Relationship Type="http://schemas.openxmlformats.org/officeDocument/2006/relationships/slide" Target="/ppt/slides/slide6.xml" Id="R374e104341274cff" /><Relationship Type="http://schemas.openxmlformats.org/officeDocument/2006/relationships/slide" Target="/ppt/slides/slide7.xml" Id="R64a872be809f45a1" /><Relationship Type="http://schemas.openxmlformats.org/officeDocument/2006/relationships/slide" Target="/ppt/slides/slide8.xml" Id="Rd3043b26d84a496f" /><Relationship Type="http://schemas.openxmlformats.org/officeDocument/2006/relationships/slide" Target="/ppt/slides/slide9.xml" Id="R8d0efeb0fbda406b" /><Relationship Type="http://schemas.openxmlformats.org/officeDocument/2006/relationships/slide" Target="/ppt/slides/slide10.xml" Id="Rd941a282a36a4d8a" /><Relationship Type="http://schemas.openxmlformats.org/officeDocument/2006/relationships/slide" Target="/ppt/slides/slide11.xml" Id="Rbb56a26d5a704b1b" /><Relationship Type="http://schemas.openxmlformats.org/officeDocument/2006/relationships/slide" Target="/ppt/slides/slide12.xml" Id="R341ee535df994e13" /><Relationship Type="http://schemas.openxmlformats.org/officeDocument/2006/relationships/slide" Target="/ppt/slides/slide13.xml" Id="R48bb0a8543ce4e06" /><Relationship Type="http://schemas.openxmlformats.org/officeDocument/2006/relationships/slide" Target="/ppt/slides/slide14.xml" Id="R7c15088a087d46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57dc8b31494d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175a4c765b4aeb" /><Relationship Type="http://schemas.openxmlformats.org/officeDocument/2006/relationships/notesMaster" Target="/ppt/notesMasters/notesMaster1.xml" Id="R7478850a1ee542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cae56c5e0b4677" /><Relationship Type="http://schemas.openxmlformats.org/officeDocument/2006/relationships/notesMaster" Target="/ppt/notesMasters/notesMaster1.xml" Id="R19b7aad740cb49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1b31799d114b9b" /><Relationship Type="http://schemas.openxmlformats.org/officeDocument/2006/relationships/notesMaster" Target="/ppt/notesMasters/notesMaster1.xml" Id="R53dbd9b88b1645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2dbab1b43e43da" /><Relationship Type="http://schemas.openxmlformats.org/officeDocument/2006/relationships/notesMaster" Target="/ppt/notesMasters/notesMaster1.xml" Id="Rc8f716dd8b3345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23fc18abba4b24" /><Relationship Type="http://schemas.openxmlformats.org/officeDocument/2006/relationships/notesMaster" Target="/ppt/notesMasters/notesMaster1.xml" Id="R25547b3fa7f040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2bd3d9809c4f29" /><Relationship Type="http://schemas.openxmlformats.org/officeDocument/2006/relationships/notesMaster" Target="/ppt/notesMasters/notesMaster1.xml" Id="R7ee2b72fa60b49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ce7884a6604219" /><Relationship Type="http://schemas.openxmlformats.org/officeDocument/2006/relationships/notesMaster" Target="/ppt/notesMasters/notesMaster1.xml" Id="Rd07eccba064f4d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75777fe0144475" /><Relationship Type="http://schemas.openxmlformats.org/officeDocument/2006/relationships/notesMaster" Target="/ppt/notesMasters/notesMaster1.xml" Id="Rd390bf9961474ec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b6b7f4429d4527" /><Relationship Type="http://schemas.openxmlformats.org/officeDocument/2006/relationships/notesMaster" Target="/ppt/notesMasters/notesMaster1.xml" Id="R0de0f3f66b994e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f0f2e1b9724729" /><Relationship Type="http://schemas.openxmlformats.org/officeDocument/2006/relationships/notesMaster" Target="/ppt/notesMasters/notesMaster1.xml" Id="Re057c1afdf2247a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8296fc740694fda" /><Relationship Type="http://schemas.openxmlformats.org/officeDocument/2006/relationships/notesMaster" Target="/ppt/notesMasters/notesMaster1.xml" Id="R303721d218c5464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be4f8a3b43e4cc4" /><Relationship Type="http://schemas.openxmlformats.org/officeDocument/2006/relationships/notesMaster" Target="/ppt/notesMasters/notesMaster1.xml" Id="R10197e3db1d14ad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d507acf40804513" /><Relationship Type="http://schemas.openxmlformats.org/officeDocument/2006/relationships/notesMaster" Target="/ppt/notesMasters/notesMaster1.xml" Id="R80a1fe8edda74c4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e4ec4a129894221" /><Relationship Type="http://schemas.openxmlformats.org/officeDocument/2006/relationships/notesMaster" Target="/ppt/notesMasters/notesMaster1.xml" Id="R6ed027cab6da4d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/Users/game/study/toy/portfolio/03-DayLink-운영자센터-React-PRD.md</a:t>
            </a:r>
          </a:p>
          <a:p xmlns:a="http://schemas.openxmlformats.org/drawingml/2006/main">
            <a:r>
              <a:t>- /Users/game/study/toy/portfolio/00-DayLink-PRD-개요.md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/Users/game/study/toy/portfolio/03-DayLink-운영자센터-React-PRD.md</a:t>
            </a:r>
          </a:p>
          <a:p xmlns:a="http://schemas.openxmlformats.org/drawingml/2006/main">
            <a:r>
              <a:t>- /Users/game/study/toy/portfolio/00-DayLink-PRD-개요.md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/Users/game/study/toy/portfolio/03-DayLink-운영자센터-React-PRD.md</a:t>
            </a:r>
          </a:p>
          <a:p xmlns:a="http://schemas.openxmlformats.org/drawingml/2006/main">
            <a:r>
              <a:t>- /Users/game/study/toy/portfolio/00-DayLink-PRD-개요.md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/Users/game/study/toy/portfolio/03-DayLink-운영자센터-React-PRD.md</a:t>
            </a:r>
          </a:p>
          <a:p xmlns:a="http://schemas.openxmlformats.org/drawingml/2006/main">
            <a:r>
              <a:t>- /Users/game/study/toy/portfolio/00-DayLink-PRD-개요.md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/Users/game/study/toy/portfolio/03-DayLink-운영자센터-React-PRD.md</a:t>
            </a:r>
          </a:p>
          <a:p xmlns:a="http://schemas.openxmlformats.org/drawingml/2006/main">
            <a:r>
              <a:t>- /Users/game/study/toy/portfolio/00-DayLink-PRD-개요.md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/Users/game/study/toy/portfolio/03-DayLink-운영자센터-React-PRD.md</a:t>
            </a:r>
          </a:p>
          <a:p xmlns:a="http://schemas.openxmlformats.org/drawingml/2006/main">
            <a:r>
              <a:t>- /Users/game/study/toy/portfolio/00-DayLink-PRD-개요.md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/Users/game/study/toy/portfolio/03-DayLink-운영자센터-React-PRD.md</a:t>
            </a:r>
          </a:p>
          <a:p xmlns:a="http://schemas.openxmlformats.org/drawingml/2006/main">
            <a:r>
              <a:t>- /Users/game/study/toy/portfolio/00-DayLink-PRD-개요.md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/Users/game/study/toy/portfolio/03-DayLink-운영자센터-React-PRD.md</a:t>
            </a:r>
          </a:p>
          <a:p xmlns:a="http://schemas.openxmlformats.org/drawingml/2006/main">
            <a:r>
              <a:t>- /Users/game/study/toy/portfolio/00-DayLink-PRD-개요.md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/Users/game/study/toy/portfolio/03-DayLink-운영자센터-React-PRD.md</a:t>
            </a:r>
          </a:p>
          <a:p xmlns:a="http://schemas.openxmlformats.org/drawingml/2006/main">
            <a:r>
              <a:t>- /Users/game/study/toy/portfolio/00-DayLink-PRD-개요.md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/Users/game/study/toy/portfolio/03-DayLink-운영자센터-React-PRD.md</a:t>
            </a:r>
          </a:p>
          <a:p xmlns:a="http://schemas.openxmlformats.org/drawingml/2006/main">
            <a:r>
              <a:t>- /Users/game/study/toy/portfolio/00-DayLink-PRD-개요.md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/Users/game/study/toy/portfolio/03-DayLink-운영자센터-React-PRD.md</a:t>
            </a:r>
          </a:p>
          <a:p xmlns:a="http://schemas.openxmlformats.org/drawingml/2006/main">
            <a:r>
              <a:t>- /Users/game/study/toy/portfolio/00-DayLink-PRD-개요.md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/Users/game/study/toy/portfolio/03-DayLink-운영자센터-React-PRD.md</a:t>
            </a:r>
          </a:p>
          <a:p xmlns:a="http://schemas.openxmlformats.org/drawingml/2006/main">
            <a:r>
              <a:t>- /Users/game/study/toy/portfolio/00-DayLink-PRD-개요.md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/Users/game/study/toy/portfolio/03-DayLink-운영자센터-React-PRD.md</a:t>
            </a:r>
          </a:p>
          <a:p xmlns:a="http://schemas.openxmlformats.org/drawingml/2006/main">
            <a:r>
              <a:t>- /Users/game/study/toy/portfolio/00-DayLink-PRD-개요.md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/Users/game/study/toy/portfolio/03-DayLink-운영자센터-React-PRD.md</a:t>
            </a:r>
          </a:p>
          <a:p xmlns:a="http://schemas.openxmlformats.org/drawingml/2006/main">
            <a:r>
              <a:t>- /Users/game/study/toy/portfolio/00-DayLink-PRD-개요.md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2b8b77a62a4c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ac6f8ed3de4413" /><Relationship Type="http://schemas.openxmlformats.org/officeDocument/2006/relationships/slideLayout" Target="/ppt/slideLayouts/slideLayout1.xml" Id="R783c9e6e534249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3c9e6e534249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429af3d78d42d4" /><Relationship Type="http://schemas.openxmlformats.org/officeDocument/2006/relationships/notesSlide" Target="/ppt/notesSlides/notesSlide1.xml" Id="R9aad199f658e49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bd69bf9884be7" /><Relationship Type="http://schemas.openxmlformats.org/officeDocument/2006/relationships/notesSlide" Target="/ppt/notesSlides/notesSlide2.xml" Id="Rc8d5ca9a2bea4e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07cfa843c34efa" /><Relationship Type="http://schemas.openxmlformats.org/officeDocument/2006/relationships/notesSlide" Target="/ppt/notesSlides/notesSlide3.xml" Id="Rd842af3922a041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52ba6ac5bd4ff2" /><Relationship Type="http://schemas.openxmlformats.org/officeDocument/2006/relationships/notesSlide" Target="/ppt/notesSlides/notesSlide4.xml" Id="R44b639769e6b4b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32678ccff54345" /><Relationship Type="http://schemas.openxmlformats.org/officeDocument/2006/relationships/notesSlide" Target="/ppt/notesSlides/notesSlide5.xml" Id="Rbd8b9420bcd243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157d92d3624f42" /><Relationship Type="http://schemas.openxmlformats.org/officeDocument/2006/relationships/notesSlide" Target="/ppt/notesSlides/notesSlide6.xml" Id="Rb3fbc714eb6940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7c668772045c5" /><Relationship Type="http://schemas.openxmlformats.org/officeDocument/2006/relationships/notesSlide" Target="/ppt/notesSlides/notesSlide7.xml" Id="R347f9861069a4c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77e707784e431b" /><Relationship Type="http://schemas.openxmlformats.org/officeDocument/2006/relationships/notesSlide" Target="/ppt/notesSlides/notesSlide8.xml" Id="R289e80544e2941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8b6ac8ffd48f0" /><Relationship Type="http://schemas.openxmlformats.org/officeDocument/2006/relationships/notesSlide" Target="/ppt/notesSlides/notesSlide9.xml" Id="Re95dd0e60b574c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85c79f7a294876" /><Relationship Type="http://schemas.openxmlformats.org/officeDocument/2006/relationships/notesSlide" Target="/ppt/notesSlides/notesSlide10.xml" Id="Rd737214b88c0467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5b30f660fc40dd" /><Relationship Type="http://schemas.openxmlformats.org/officeDocument/2006/relationships/notesSlide" Target="/ppt/notesSlides/notesSlide11.xml" Id="Ra6ac3c7e1a784c9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96b29b9a14996" /><Relationship Type="http://schemas.openxmlformats.org/officeDocument/2006/relationships/notesSlide" Target="/ppt/notesSlides/notesSlide12.xml" Id="R69f574dfd85147b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8a6169fb1e461f" /><Relationship Type="http://schemas.openxmlformats.org/officeDocument/2006/relationships/notesSlide" Target="/ppt/notesSlides/notesSlide13.xml" Id="Rf7b8bc980ce74a0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3285b45044e25" /><Relationship Type="http://schemas.openxmlformats.org/officeDocument/2006/relationships/notesSlide" Target="/ppt/notesSlides/notesSlide14.xml" Id="R262e285be68744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57EE42-4468-4B20-9FBB-3FE4709C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D5C"/>
          </a:solidFill>
          <a:ln xmlns:a="http://schemas.openxmlformats.org/drawingml/2006/main" w="9525">
            <a:solidFill>
              <a:srgbClr val="0B2D5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2529A6-B947-4F36-BF52-9F209065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F77"/>
                </a:solidFill>
              </a:defRPr>
            </a:pPr>
            <a:r>
              <a:rPr sz="1350" b="1">
                <a:solidFill>
                  <a:srgbClr val="123F77"/>
                </a:solidFill>
              </a:rPr>
              <a:t>DAYLINK OPS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769AF3-0405-4E72-8396-ADAD6ED5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2033"/>
                </a:solidFill>
              </a:defRPr>
            </a:pPr>
            <a:r>
              <a:rPr sz="4050" b="1">
                <a:solidFill>
                  <a:srgbClr val="172033"/>
                </a:solidFill>
              </a:rPr>
              <a:t>React 운영자센터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A45080-CAA1-43CA-97F2-4DF3B880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23F77"/>
                </a:solidFill>
              </a:defRPr>
            </a:pPr>
            <a:r>
              <a:rPr sz="2250" b="0">
                <a:solidFill>
                  <a:srgbClr val="123F77"/>
                </a:solidFill>
              </a:rPr>
              <a:t>화면 목록 및 공통 화면설계 기준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06E33F-0858-45B7-AF17-31B6424C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90850"/>
            <a:ext cx="742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2D5C"/>
            </a:solidFill>
            <a:prstDash val="solid"/>
          </a:ln>
        </p:spPr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666750" y="3429000"/>
          <a:ext xmlns:a="http://schemas.openxmlformats.org/drawingml/2006/main" cx="6858000" cy="1447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5238750"/>
              </a:tblGrid>
              <a:tr h="323850"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</a:tr>
              <a:tr h="37147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75">
                          <a:solidFill>
                            <a:srgbClr val="172033"/>
                          </a:solidFill>
                        </a:rPr>
                        <a:t>문서 버전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75">
                          <a:solidFill>
                            <a:srgbClr val="172033"/>
                          </a:solidFill>
                        </a:rPr>
                        <a:t>v1.0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75">
                          <a:solidFill>
                            <a:srgbClr val="172033"/>
                          </a:solidFill>
                        </a:rPr>
                        <a:t>대상 시스템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75">
                          <a:solidFill>
                            <a:srgbClr val="172033"/>
                          </a:solidFill>
                        </a:rPr>
                        <a:t>DayLink Ops · React + TypeScript + Vite SPA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37147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75">
                          <a:solidFill>
                            <a:srgbClr val="172033"/>
                          </a:solidFill>
                        </a:rPr>
                        <a:t>작성 범위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75">
                          <a:solidFill>
                            <a:srgbClr val="172033"/>
                          </a:solidFill>
                        </a:rPr>
                        <a:t>화면 목록 / 화면 ID / 공통 UI·상태·권한 규칙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26FD29-E0A6-49ED-B6EC-CF42E59D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43000"/>
            <a:ext cx="2781300" cy="4095750"/>
          </a:xfrm>
          <a:prstGeom xmlns:a="http://schemas.openxmlformats.org/drawingml/2006/main" prst="roundRect">
            <a:avLst>
              <a:gd name="adj" fmla="val 137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B8C3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381622-C5E0-4EDC-AF7F-75F4CA37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76375"/>
            <a:ext cx="220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F77"/>
                </a:solidFill>
              </a:defRPr>
            </a:pPr>
            <a:r>
              <a:rPr sz="1800" b="1">
                <a:solidFill>
                  <a:srgbClr val="123F77"/>
                </a:solidFill>
              </a:rPr>
              <a:t>문서 목적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333C67-BBB3-441D-9594-40F750A4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76450"/>
            <a:ext cx="19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F77"/>
                </a:solidFill>
              </a:defRPr>
            </a:pPr>
            <a:r>
              <a:rPr sz="1350" b="1">
                <a:solidFill>
                  <a:srgbClr val="123F77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01A0C2-EC7E-4591-A86E-FB425175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07645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상세 화면설계 전 화면 누락 방지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1A1541-E247-44DD-B761-78E036DE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28900"/>
            <a:ext cx="19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F77"/>
                </a:solidFill>
              </a:defRPr>
            </a:pPr>
            <a:r>
              <a:rPr sz="1350" b="1">
                <a:solidFill>
                  <a:srgbClr val="123F77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41765D-6A5D-4A2C-9C09-5E58D955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6289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사이트 공통 동작을 한 번만 정의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C40237-15FF-4641-982B-4DC096EB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81350"/>
            <a:ext cx="19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F77"/>
                </a:solidFill>
              </a:defRPr>
            </a:pPr>
            <a:r>
              <a:rPr sz="1350" b="1">
                <a:solidFill>
                  <a:srgbClr val="123F77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A5ACA0-2FDF-4025-A9ED-8A3109F2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18135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기획·개발·QA의 동일 기준 확보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B9724E-D22B-4594-8B8E-9A742064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33800"/>
            <a:ext cx="19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F77"/>
                </a:solidFill>
              </a:defRPr>
            </a:pPr>
            <a:r>
              <a:rPr sz="1350" b="1">
                <a:solidFill>
                  <a:srgbClr val="123F77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3298AE-9721-48EB-BFC1-6C70FE8A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7338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화면별 PPT 작성 순서의 기준선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734BEC-C7F6-4658-A8D6-F217966E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0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275"/>
                </a:solidFill>
              </a:defRPr>
            </a:pPr>
            <a:r>
              <a:rPr sz="1200" b="0">
                <a:solidFill>
                  <a:srgbClr val="566275"/>
                </a:solidFill>
              </a:rPr>
              <a:t>2026.08.18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D29470-CA7F-4275-86CB-F581A930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1030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275"/>
                </a:solidFill>
              </a:defRPr>
            </a:pPr>
            <a:r>
              <a:rPr sz="1200" b="0">
                <a:solidFill>
                  <a:srgbClr val="566275"/>
                </a:solidFill>
              </a:rPr>
              <a:t>1 / 14</a:t>
            </a:r>
          </a:p>
        </p:txBody>
      </p:sp>
    </p:spTree>
    <p:extLst>
      <p:ext uri="{BB962C8B-B14F-4D97-AF65-F5344CB8AC3E}">
        <p14:creationId xmlns:p14="http://schemas.microsoft.com/office/powerpoint/2010/main" val="15813149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DD77FC-5DFC-43A7-B5F4-13EC36CF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D5C"/>
          </a:solidFill>
          <a:ln xmlns:a="http://schemas.openxmlformats.org/drawingml/2006/main" w="9525">
            <a:solidFill>
              <a:srgbClr val="0B2D5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1FA803-D4F3-449E-8F13-A376A22F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62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F77"/>
                </a:solidFill>
              </a:defRPr>
            </a:pPr>
            <a:r>
              <a:rPr sz="1200" b="1">
                <a:solidFill>
                  <a:srgbClr val="123F77"/>
                </a:solidFill>
              </a:rPr>
              <a:t>01. 문서 적용 범위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F9C4F1-1775-4C71-BAD9-08153EC2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23875"/>
            <a:ext cx="11315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상세 화면설계 전에 화면과 공통 규칙을 먼저 고정한다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4B532-9B2A-420F-AAD6-7D18C7D4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0490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3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128CB5-CA57-4EBE-8CD8-32918413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6C2526-DC91-4D18-B209-7725D2C0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627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66275"/>
                </a:solidFill>
              </a:defRPr>
            </a:pPr>
            <a:r>
              <a:rPr sz="975" b="0">
                <a:solidFill>
                  <a:srgbClr val="566275"/>
                </a:solidFill>
              </a:rPr>
              <a:t>DayLink Ops 화면설계서 · v1.0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C4F6A3-CA20-46F8-A0D7-97119E99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6272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66275"/>
                </a:solidFill>
              </a:defRPr>
            </a:pPr>
            <a:r>
              <a:rPr sz="975" b="0">
                <a:solidFill>
                  <a:srgbClr val="566275"/>
                </a:solidFill>
              </a:rPr>
              <a:t>2 / 14</a:t>
            </a:r>
          </a:p>
        </p:txBody>
      </p:sp>
      <p:graphicFrame>
        <p:nvGraphicFramePr>
          <p:cNvPr id="29" name=""/>
          <p:cNvGraphicFramePr/>
          <p:nvPr/>
        </p:nvGraphicFramePr>
        <p:xfrm>
          <a:off xmlns:a="http://schemas.openxmlformats.org/drawingml/2006/main" x="438150" y="1371600"/>
          <a:ext xmlns:a="http://schemas.openxmlformats.org/drawingml/2006/main" cx="72390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81125"/>
                <a:gridCol w="3762375"/>
                <a:gridCol w="2095500"/>
              </a:tblGrid>
              <a:tr h="381000"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이번 PPT에서 확정하는 내용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후속 산출물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</a:tr>
              <a:tr h="647700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화면 목록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화면 ID·화면명·경로·유형·권한·연결 화면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화면별 상세설계서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공통 레이아웃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헤더·좌측 메뉴·본문·상세 패널·푸터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공통 컴포넌트 명세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647700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조회·목록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검색·초기화·정렬·페이징·내보내기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목록 화면 상세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입력·변경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검증·저장·이탈·409 충돌·멱등 처리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등록/수정 화면 상세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647700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상태·오류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로딩·빈 결과·권한·세션·실시간 연결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상태별 와이어프레임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보안·접근성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마스킹·재인증·감사·키보드·초점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QA 시나리오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C30D19-F3AF-4993-BEA8-610E16A3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371600"/>
            <a:ext cx="3733800" cy="4286250"/>
          </a:xfrm>
          <a:prstGeom xmlns:a="http://schemas.openxmlformats.org/drawingml/2006/main" prst="roundRect">
            <a:avLst>
              <a:gd name="adj" fmla="val 102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B8C3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1E28F7-D0E6-41CE-880F-0CEEFFFA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38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F77"/>
                </a:solidFill>
              </a:defRPr>
            </a:pPr>
            <a:r>
              <a:rPr sz="1800" b="1">
                <a:solidFill>
                  <a:srgbClr val="123F77"/>
                </a:solidFill>
              </a:rPr>
              <a:t>적용 원칙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031345-C498-4EE7-99FB-59FDE77A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90750"/>
            <a:ext cx="190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F77"/>
                </a:solidFill>
              </a:defRPr>
            </a:pPr>
            <a:r>
              <a:rPr sz="1350" b="1">
                <a:solidFill>
                  <a:srgbClr val="123F77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FEE92C-BBD2-4EA4-B84E-15EEE178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90750"/>
            <a:ext cx="28765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React 운영자센터에만 적용한다.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44505D-05F0-4F83-A049-DBC41F38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71775"/>
            <a:ext cx="190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F77"/>
                </a:solidFill>
              </a:defRPr>
            </a:pPr>
            <a:r>
              <a:rPr sz="1350" b="1">
                <a:solidFill>
                  <a:srgbClr val="123F77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B5C13B-93F3-4067-AF14-A9D7022B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771775"/>
            <a:ext cx="28765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업무 규칙의 최종 판정은 Core API가 담당한다.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8C4364-43ED-40C4-B6E6-3EDDB4EF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52800"/>
            <a:ext cx="190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F77"/>
                </a:solidFill>
              </a:defRPr>
            </a:pPr>
            <a:r>
              <a:rPr sz="1350" b="1">
                <a:solidFill>
                  <a:srgbClr val="123F77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2664A4-FD30-4CBF-BB21-9D9B4822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52800"/>
            <a:ext cx="28765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화면별 설계서는 공통 규칙 ID를 참조한다.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958DB0-7F14-431A-B750-D730D452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33825"/>
            <a:ext cx="190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F77"/>
                </a:solidFill>
              </a:defRPr>
            </a:pPr>
            <a:r>
              <a:rPr sz="1350" b="1">
                <a:solidFill>
                  <a:srgbClr val="123F77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0846CE-7323-4394-8D95-FB42EFE6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933825"/>
            <a:ext cx="28765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예외가 있으면 해당 화면에서 예외만 추가한다.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18C432-330F-4C2F-840C-B4550AC4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14850"/>
            <a:ext cx="190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F77"/>
                </a:solidFill>
              </a:defRPr>
            </a:pPr>
            <a:r>
              <a:rPr sz="1350" b="1">
                <a:solidFill>
                  <a:srgbClr val="123F77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781FD6-0C67-464E-84B8-4D04C5B8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514850"/>
            <a:ext cx="28765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P0 화면부터 작성하고 P1은 다음 묶음으로 분리한다.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AB21C2-8542-4457-974E-A15E6A8E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48250"/>
            <a:ext cx="26670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E8F7EF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7647"/>
                </a:solidFill>
              </a:defRPr>
            </a:pPr>
            <a:r>
              <a:rPr sz="1200" b="1">
                <a:solidFill>
                  <a:srgbClr val="067647"/>
                </a:solidFill>
              </a:rPr>
              <a:t>이번 단계: 목록 + 공통</a:t>
            </a:r>
          </a:p>
        </p:txBody>
      </p:sp>
    </p:spTree>
    <p:extLst>
      <p:ext uri="{BB962C8B-B14F-4D97-AF65-F5344CB8AC3E}">
        <p14:creationId xmlns:p14="http://schemas.microsoft.com/office/powerpoint/2010/main" val="7903397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A63E37-6899-478D-B022-454E27A4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D5C"/>
          </a:solidFill>
          <a:ln xmlns:a="http://schemas.openxmlformats.org/drawingml/2006/main" w="9525">
            <a:solidFill>
              <a:srgbClr val="0B2D5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4295E-CCE9-44DF-A6FF-EDF42463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62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F77"/>
                </a:solidFill>
              </a:defRPr>
            </a:pPr>
            <a:r>
              <a:rPr sz="1200" b="1">
                <a:solidFill>
                  <a:srgbClr val="123F77"/>
                </a:solidFill>
              </a:rPr>
              <a:t>02. 식별 및 분류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407D59-E8FA-4624-899B-7FA1F894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23875"/>
            <a:ext cx="11315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화면 ID는 업무영역과 화면 단위를 동시에 식별한다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92F5B6-A562-4604-BBC6-B038368D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0490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3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E76617-656A-4AA4-AB87-6464A0D4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A74350-7C94-4399-B0AA-A683208A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627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66275"/>
                </a:solidFill>
              </a:defRPr>
            </a:pPr>
            <a:r>
              <a:rPr sz="975" b="0">
                <a:solidFill>
                  <a:srgbClr val="566275"/>
                </a:solidFill>
              </a:rPr>
              <a:t>DayLink Ops 화면설계서 · v1.0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136093-CF4E-4376-84A2-5496BC64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6272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66275"/>
                </a:solidFill>
              </a:defRPr>
            </a:pPr>
            <a:r>
              <a:rPr sz="975" b="0">
                <a:solidFill>
                  <a:srgbClr val="566275"/>
                </a:solidFill>
              </a:rPr>
              <a:t>3 / 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0F465E-A9C4-4B58-9452-607755FD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811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F77"/>
                </a:solidFill>
              </a:defRPr>
            </a:pPr>
            <a:r>
              <a:rPr sz="1800" b="1">
                <a:solidFill>
                  <a:srgbClr val="123F77"/>
                </a:solidFill>
              </a:rPr>
              <a:t>ID 형식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8FEBC4-3D63-4188-A833-F918FD4F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09750"/>
            <a:ext cx="5238750" cy="8953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B8C3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D181AC-E998-4352-AA38-F18CEAD7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OPS - BKG - 002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26E650-AEF2-4F01-B188-012A5357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466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66275"/>
                </a:solidFill>
              </a:defRPr>
            </a:pPr>
            <a:r>
              <a:rPr sz="1200" b="0">
                <a:solidFill>
                  <a:srgbClr val="566275"/>
                </a:solidFill>
              </a:rPr>
              <a:t>시스템     업무영역     일련번호</a:t>
            </a:r>
          </a:p>
        </p:txBody>
      </p:sp>
      <p:graphicFrame>
        <p:nvGraphicFramePr>
          <p:cNvPr id="28" name=""/>
          <p:cNvGraphicFramePr/>
          <p:nvPr/>
        </p:nvGraphicFramePr>
        <p:xfrm>
          <a:off xmlns:a="http://schemas.openxmlformats.org/drawingml/2006/main" x="6000750" y="1381125"/>
          <a:ext xmlns:a="http://schemas.openxmlformats.org/drawingml/2006/main" cx="5753100" cy="1790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00125"/>
                <a:gridCol w="1857375"/>
                <a:gridCol w="1047750"/>
                <a:gridCol w="1847850"/>
              </a:tblGrid>
              <a:tr h="342900"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업무 코드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의미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업무 코드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의미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</a:tr>
              <a:tr h="361950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AUTH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인증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DASH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대시보드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REV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심사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CUST/PTN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고객/파트너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361950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BKG/RFD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예약/환불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INC/SET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사고/정산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CMS/AUD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콘텐츠/감사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ACC/SYS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권한/시스템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EAA7FC-887C-491E-8110-9806A935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86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F77"/>
                </a:solidFill>
              </a:defRPr>
            </a:pPr>
            <a:r>
              <a:rPr sz="1800" b="1">
                <a:solidFill>
                  <a:srgbClr val="123F77"/>
                </a:solidFill>
              </a:rPr>
              <a:t>화면 유형</a:t>
            </a:r>
          </a:p>
        </p:txBody>
      </p:sp>
      <p:graphicFrame>
        <p:nvGraphicFramePr>
          <p:cNvPr id="30" name=""/>
          <p:cNvGraphicFramePr/>
          <p:nvPr/>
        </p:nvGraphicFramePr>
        <p:xfrm>
          <a:off xmlns:a="http://schemas.openxmlformats.org/drawingml/2006/main" x="438150" y="3486150"/>
          <a:ext xmlns:a="http://schemas.openxmlformats.org/drawingml/2006/main" cx="5810250" cy="2343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857500"/>
                <a:gridCol w="2000250"/>
              </a:tblGrid>
              <a:tr h="342900"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유형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정의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대표 사용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</a:tr>
              <a:tr h="33337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DASH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요약·업무 큐 진입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운영 대시보드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LIST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조회조건 + 데이터 그리드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심사·예약·환불 큐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33337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DETAIL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단건 정보·타임라인·명령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예약·정산 상세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FORM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등록·수정·승인 입력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콘텐츠·권한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33337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DRAWER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목록 맥락을 유지한 상세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고객·파트너 요약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POP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확인·사유·재인증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환불·역할 변경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E88E81-C25F-4A55-854E-4910A655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861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F77"/>
                </a:solidFill>
              </a:defRPr>
            </a:pPr>
            <a:r>
              <a:rPr sz="1800" b="1">
                <a:solidFill>
                  <a:srgbClr val="123F77"/>
                </a:solidFill>
              </a:rPr>
              <a:t>권한 표기</a:t>
            </a:r>
          </a:p>
        </p:txBody>
      </p:sp>
      <p:graphicFrame>
        <p:nvGraphicFramePr>
          <p:cNvPr id="32" name=""/>
          <p:cNvGraphicFramePr/>
          <p:nvPr/>
        </p:nvGraphicFramePr>
        <p:xfrm>
          <a:off xmlns:a="http://schemas.openxmlformats.org/drawingml/2006/main" x="6572250" y="3886200"/>
          <a:ext xmlns:a="http://schemas.openxmlformats.org/drawingml/2006/main" cx="5181600" cy="1943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2190750"/>
                <a:gridCol w="1943100"/>
              </a:tblGrid>
              <a:tr h="342900"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표기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대상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주의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</a:tr>
              <a:tr h="31432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심사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입점·상품 심사 담당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환불·정산 불가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CS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고객·예약·정책 내 환불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자기 승인 불가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31432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승인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예외·고액 환불 승인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요청자와 분리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정산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대사·조정 요청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원장 직접 수정 불가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31432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감사/슈퍼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감사·계정·권한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감사 로그 삭제 불가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04249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F589A6-0FB3-4610-9A04-383118C7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D5C"/>
          </a:solidFill>
          <a:ln xmlns:a="http://schemas.openxmlformats.org/drawingml/2006/main" w="9525">
            <a:solidFill>
              <a:srgbClr val="0B2D5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1F534D-2AC9-48B7-B9B7-12FA795A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62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F77"/>
                </a:solidFill>
              </a:defRPr>
            </a:pPr>
            <a:r>
              <a:rPr sz="1200" b="1">
                <a:solidFill>
                  <a:srgbClr val="123F77"/>
                </a:solidFill>
              </a:rPr>
              <a:t>03. 화면 목록 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B05B7E-68E2-4C2B-9438-F966CCA6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23875"/>
            <a:ext cx="11315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인증·대시보드·심사 화면이 운영 업무의 첫 진입점이다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5B00D9-E138-4496-8E3B-D73D55A1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0490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3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DE9DA-AD44-418B-AA5D-1093492E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F4871F-0857-4480-8C70-3BACF7A9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627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66275"/>
                </a:solidFill>
              </a:defRPr>
            </a:pPr>
            <a:r>
              <a:rPr sz="975" b="0">
                <a:solidFill>
                  <a:srgbClr val="566275"/>
                </a:solidFill>
              </a:rPr>
              <a:t>DayLink Ops 화면설계서 · v1.0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3FD594-CF94-4A31-BDE6-B3C029FA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6272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66275"/>
                </a:solidFill>
              </a:defRPr>
            </a:pPr>
            <a:r>
              <a:rPr sz="975" b="0">
                <a:solidFill>
                  <a:srgbClr val="566275"/>
                </a:solidFill>
              </a:rPr>
              <a:t>4 / 14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438150" y="1428750"/>
          <a:ext xmlns:a="http://schemas.openxmlformats.org/drawingml/2006/main" cx="11334750" cy="4229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952625"/>
                <a:gridCol w="952500"/>
                <a:gridCol w="2228850"/>
                <a:gridCol w="1428750"/>
                <a:gridCol w="2762250"/>
                <a:gridCol w="581025"/>
              </a:tblGrid>
              <a:tr h="400050"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화면 ID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화면명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유형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경로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대표 권한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주요 연결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등급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</a:tr>
              <a:tr h="63817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OPS-AUTH-001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내부 로그인·MFA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FORM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/login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전체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성공 → OPS-DASH-001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P0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OPS-DASH-001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운영 대시보드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DASH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/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역할별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역할별 업무 큐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P0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63817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OPS-REV-001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입점 심사 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LIST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/review/partners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심사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행 선택 → REV-002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P0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OPS-REV-002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입점 심사 상세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DETAIL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/review/partners/:id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심사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승인·반려 POP 호출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P0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63817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OPS-REV-003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상품 심사 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LIST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/review/experiences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심사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행 선택 → REV-004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P0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OPS-REV-004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상품 심사 상세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DETAIL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/review/experiences/:id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심사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버전 비교·결정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P0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48D56-2BAE-4E92-8A5F-EF1820A6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857875"/>
            <a:ext cx="276225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EAF1F8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F77"/>
                </a:solidFill>
              </a:defRPr>
            </a:pPr>
            <a:r>
              <a:rPr sz="1200" b="1">
                <a:solidFill>
                  <a:srgbClr val="123F77"/>
                </a:solidFill>
              </a:rPr>
              <a:t>목록과 상세는 URL로 직접 복원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E2A2B6-D93A-45C3-A014-4B47143B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857875"/>
            <a:ext cx="32385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5D6"/>
          </a:solidFill>
          <a:ln xmlns:a="http://schemas.openxmlformats.org/drawingml/2006/main" w="9525">
            <a:solidFill>
              <a:srgbClr val="FFF5D6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9A6700"/>
                </a:solidFill>
              </a:defRPr>
            </a:pPr>
            <a:r>
              <a:rPr sz="1200" b="1">
                <a:solidFill>
                  <a:srgbClr val="9A6700"/>
                </a:solidFill>
              </a:rPr>
              <a:t>심사 결정은 version 검사 후 수행</a:t>
            </a:r>
          </a:p>
        </p:txBody>
      </p:sp>
    </p:spTree>
    <p:extLst>
      <p:ext uri="{BB962C8B-B14F-4D97-AF65-F5344CB8AC3E}">
        <p14:creationId xmlns:p14="http://schemas.microsoft.com/office/powerpoint/2010/main" val="9201026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75A0A4-5712-4524-8610-ECE28BA5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D5C"/>
          </a:solidFill>
          <a:ln xmlns:a="http://schemas.openxmlformats.org/drawingml/2006/main" w="9525">
            <a:solidFill>
              <a:srgbClr val="0B2D5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A4007D-2D1E-44C6-B362-9277FDE9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62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F77"/>
                </a:solidFill>
              </a:defRPr>
            </a:pPr>
            <a:r>
              <a:rPr sz="1200" b="1">
                <a:solidFill>
                  <a:srgbClr val="123F77"/>
                </a:solidFill>
              </a:rPr>
              <a:t>03. 화면 목록 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1BFE40-2F93-4607-AD5D-28E992B1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23875"/>
            <a:ext cx="11315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고객·파트너·예약 화면은 검색과 단건 타임라인을 분리한다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85D31E-57AB-4117-9A6E-ACBF8B15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0490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3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4A2ACB-93BD-42A7-B34A-3B681EBF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3BA06-1DA3-4F05-B788-D1A96F94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627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66275"/>
                </a:solidFill>
              </a:defRPr>
            </a:pPr>
            <a:r>
              <a:rPr sz="975" b="0">
                <a:solidFill>
                  <a:srgbClr val="566275"/>
                </a:solidFill>
              </a:rPr>
              <a:t>DayLink Ops 화면설계서 · v1.0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672C91-1164-4E14-83B4-9B77855E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6272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66275"/>
                </a:solidFill>
              </a:defRPr>
            </a:pPr>
            <a:r>
              <a:rPr sz="975" b="0">
                <a:solidFill>
                  <a:srgbClr val="566275"/>
                </a:solidFill>
              </a:rPr>
              <a:t>5 / 14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438150" y="1428750"/>
          <a:ext xmlns:a="http://schemas.openxmlformats.org/drawingml/2006/main" cx="11334750" cy="4229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952625"/>
                <a:gridCol w="952500"/>
                <a:gridCol w="2228850"/>
                <a:gridCol w="1428750"/>
                <a:gridCol w="2762250"/>
                <a:gridCol w="581025"/>
              </a:tblGrid>
              <a:tr h="400050"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화면 ID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화면명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유형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경로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대표 권한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주요 연결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등급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</a:tr>
              <a:tr h="63817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OPS-CUST-001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고객 검색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LIST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/customers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CS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행 선택 → CUST-002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P0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OPS-CUST-002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고객 상세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DRAWER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/customers/:id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CS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예약·상태·PII 열람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P0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63817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OPS-PTN-001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파트너 검색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LIST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/partners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CS·심사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행 선택 → PTN-002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P0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OPS-PTN-002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파트너 상세·제재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DETAIL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/partners/:id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CS·심사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판매중지·사고 연결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P0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63817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OPS-BKG-001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예약 검색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LIST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/bookings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CS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행 선택 → BKG-002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P0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OPS-BKG-002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예약 통합 타임라인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DETAIL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/bookings/:id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CS·정산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환불·사고·정산 연결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P0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E8D4C9-C23E-4011-A4F6-04EEF153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857875"/>
            <a:ext cx="238125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CEB"/>
          </a:solidFill>
          <a:ln xmlns:a="http://schemas.openxmlformats.org/drawingml/2006/main" w="9525">
            <a:solidFill>
              <a:srgbClr val="FEECEB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42318"/>
                </a:solidFill>
              </a:defRPr>
            </a:pPr>
            <a:r>
              <a:rPr sz="1200" b="1">
                <a:solidFill>
                  <a:srgbClr val="B42318"/>
                </a:solidFill>
              </a:rPr>
              <a:t>연락처는 기본 마스킹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1095EA-423A-4179-A0FA-EAAA3F4F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857875"/>
            <a:ext cx="314325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EAF1F8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F77"/>
                </a:solidFill>
              </a:defRPr>
            </a:pPr>
            <a:r>
              <a:rPr sz="1200" b="1">
                <a:solidFill>
                  <a:srgbClr val="123F77"/>
                </a:solidFill>
              </a:rPr>
              <a:t>목록 조건은 URL query로 유지</a:t>
            </a:r>
          </a:p>
        </p:txBody>
      </p:sp>
    </p:spTree>
    <p:extLst>
      <p:ext uri="{BB962C8B-B14F-4D97-AF65-F5344CB8AC3E}">
        <p14:creationId xmlns:p14="http://schemas.microsoft.com/office/powerpoint/2010/main" val="19332488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C551D8-8811-4BC0-88B8-D5D9B59D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D5C"/>
          </a:solidFill>
          <a:ln xmlns:a="http://schemas.openxmlformats.org/drawingml/2006/main" w="9525">
            <a:solidFill>
              <a:srgbClr val="0B2D5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B1F59D-AA59-44EA-88E4-6998F8AA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62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F77"/>
                </a:solidFill>
              </a:defRPr>
            </a:pPr>
            <a:r>
              <a:rPr sz="1200" b="1">
                <a:solidFill>
                  <a:srgbClr val="123F77"/>
                </a:solidFill>
              </a:rPr>
              <a:t>03. 화면 목록 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DC8810-507D-4EAB-AE15-18B3D805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23875"/>
            <a:ext cx="11315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환불·사고·정산은 요청과 승인, 원장 정정을 분리한다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7535C4-A3A2-41E3-911F-76A6C69B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0490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3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AF553A-D100-4101-A4AB-F75F37B4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0E7866-4100-4B4B-AD85-5B2DF6D4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627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66275"/>
                </a:solidFill>
              </a:defRPr>
            </a:pPr>
            <a:r>
              <a:rPr sz="975" b="0">
                <a:solidFill>
                  <a:srgbClr val="566275"/>
                </a:solidFill>
              </a:rPr>
              <a:t>DayLink Ops 화면설계서 · v1.0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7B199A-4E08-4691-926D-B646D4F1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6272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66275"/>
                </a:solidFill>
              </a:defRPr>
            </a:pPr>
            <a:r>
              <a:rPr sz="975" b="0">
                <a:solidFill>
                  <a:srgbClr val="566275"/>
                </a:solidFill>
              </a:rPr>
              <a:t>6 / 14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438150" y="1428750"/>
          <a:ext xmlns:a="http://schemas.openxmlformats.org/drawingml/2006/main" cx="11334750" cy="4229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952625"/>
                <a:gridCol w="952500"/>
                <a:gridCol w="2228850"/>
                <a:gridCol w="1428750"/>
                <a:gridCol w="2762250"/>
                <a:gridCol w="581025"/>
              </a:tblGrid>
              <a:tr h="400050"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화면 ID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화면명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유형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경로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대표 권한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주요 연결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등급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</a:tr>
              <a:tr h="63817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OPS-RFD-001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환불 요청·승인 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LIST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/refunds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CS·승인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행 선택 → RFD-002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P0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OPS-RFD-002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환불 상세·승인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DETAIL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/refunds/:id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CS·승인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요청자/승인자 분리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P0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63817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OPS-INC-001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사고 사건 목록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LIST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/incidents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CS·운영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행 선택 → INC-002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P0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OPS-INC-002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사고 사건 상세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DETAIL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/incidents/:id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CS·운영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예약·현장보고 연결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P0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63817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OPS-SET-001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정산 기간·대사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LIST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/settlements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정산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행 선택 → SET-002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P0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OPS-SET-002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정산 원장·조정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DETAIL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/settlements/:id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정산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조정 요청·증빙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P0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96A32E-1D73-485D-A092-E70FA2E2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857875"/>
            <a:ext cx="409575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5D6"/>
          </a:solidFill>
          <a:ln xmlns:a="http://schemas.openxmlformats.org/drawingml/2006/main" w="9525">
            <a:solidFill>
              <a:srgbClr val="FFF5D6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9A6700"/>
                </a:solidFill>
              </a:defRPr>
            </a:pPr>
            <a:r>
              <a:rPr sz="1200" b="1">
                <a:solidFill>
                  <a:srgbClr val="9A6700"/>
                </a:solidFill>
              </a:rPr>
              <a:t>100,000원 초과·예외 환불은 2차 승인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A2985D-E5FE-4817-AD5F-C3DFCF64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857875"/>
            <a:ext cx="409575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E8F7EF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7647"/>
                </a:solidFill>
              </a:defRPr>
            </a:pPr>
            <a:r>
              <a:rPr sz="1200" b="1">
                <a:solidFill>
                  <a:srgbClr val="067647"/>
                </a:solidFill>
              </a:rPr>
              <a:t>기존 원장은 수정하지 않고 조정 행 추가</a:t>
            </a:r>
          </a:p>
        </p:txBody>
      </p:sp>
    </p:spTree>
    <p:extLst>
      <p:ext uri="{BB962C8B-B14F-4D97-AF65-F5344CB8AC3E}">
        <p14:creationId xmlns:p14="http://schemas.microsoft.com/office/powerpoint/2010/main" val="10238438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F3671B-1ABA-4EE5-913A-A011ACE2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D5C"/>
          </a:solidFill>
          <a:ln xmlns:a="http://schemas.openxmlformats.org/drawingml/2006/main" w="9525">
            <a:solidFill>
              <a:srgbClr val="0B2D5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C717EF-9741-42FC-B59E-0E431944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62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F77"/>
                </a:solidFill>
              </a:defRPr>
            </a:pPr>
            <a:r>
              <a:rPr sz="1200" b="1">
                <a:solidFill>
                  <a:srgbClr val="123F77"/>
                </a:solidFill>
              </a:rPr>
              <a:t>03. 화면 목록 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127F0B-F8FA-4A33-B7A9-96BC674D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23875"/>
            <a:ext cx="11315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지원 화면과 공통 팝업도 화면 목록에서 독립 관리한다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62EB5-DA11-4366-B50E-6C494ACD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0490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3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578B7E-AE44-453C-AD4D-FE39A0AD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B15DC6-D215-46EF-B834-36532062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627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66275"/>
                </a:solidFill>
              </a:defRPr>
            </a:pPr>
            <a:r>
              <a:rPr sz="975" b="0">
                <a:solidFill>
                  <a:srgbClr val="566275"/>
                </a:solidFill>
              </a:rPr>
              <a:t>DayLink Ops 화면설계서 · v1.0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FAA08-F494-4518-9A48-CBDC1F81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6272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66275"/>
                </a:solidFill>
              </a:defRPr>
            </a:pPr>
            <a:r>
              <a:rPr sz="975" b="0">
                <a:solidFill>
                  <a:srgbClr val="566275"/>
                </a:solidFill>
              </a:rPr>
              <a:t>7 / 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6E5D44-6BC5-4E4F-816F-D639AA6B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620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F77"/>
                </a:solidFill>
              </a:defRPr>
            </a:pPr>
            <a:r>
              <a:rPr sz="1650" b="1">
                <a:solidFill>
                  <a:srgbClr val="123F77"/>
                </a:solidFill>
              </a:rPr>
              <a:t>지원·관리 화면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438150" y="1714500"/>
          <a:ext xmlns:a="http://schemas.openxmlformats.org/drawingml/2006/main" cx="5476875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1666875"/>
                <a:gridCol w="904875"/>
                <a:gridCol w="1571625"/>
              </a:tblGrid>
              <a:tr h="381000"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화면 ID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화면명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유형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경로/연결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</a:tr>
              <a:tr h="628650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OPS-CMS-001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공지·노출·쿠폰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FORM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/content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OPS-AUD-001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감사 로그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LIST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/audit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628650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OPS-ACC-001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운영자·역할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FORM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/access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OPS-SYS-001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비동기 작업·웹훅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LIST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/system/jobs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628650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OPS-SYS-002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기능 플래그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FORM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/system/flags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731472-9A46-4E6F-9B27-EA2A78D4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620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F77"/>
                </a:solidFill>
              </a:defRPr>
            </a:pPr>
            <a:r>
              <a:rPr sz="1650" b="1">
                <a:solidFill>
                  <a:srgbClr val="123F77"/>
                </a:solidFill>
              </a:rPr>
              <a:t>공통 팝업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6286500" y="1714500"/>
          <a:ext xmlns:a="http://schemas.openxmlformats.org/drawingml/2006/main" cx="546735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19200"/>
                <a:gridCol w="1562100"/>
                <a:gridCol w="1285875"/>
                <a:gridCol w="1400175"/>
              </a:tblGrid>
              <a:tr h="381000"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화면 ID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팝업명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호출 화면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필수 조건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</a:tr>
              <a:tr h="52387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OPS-POP-001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민감정보 원문 열람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고객·예약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사유 + 제한시간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OPS-POP-002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상태 변경 확인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심사·제재·사고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영향 + 사유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52387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OPS-POP-003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예외 환불 요청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예약 상세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증빙 + 금액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OPS-POP-004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환불·조정 승인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환불·정산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요청자와 분리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52387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OPS-POP-005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역할 변경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권한 관리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2차 승인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OPS-POP-006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재인증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고위험 명령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MFA 성공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B8CD1A-84D1-4447-A9D6-BEEF83A2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72125"/>
            <a:ext cx="11315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 wrap="square" lIns="114300" tIns="19050" rIns="114300" bIns="1905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275"/>
                </a:solidFill>
              </a:defRPr>
            </a:pPr>
            <a:r>
              <a:rPr sz="1350" b="0">
                <a:solidFill>
                  <a:srgbClr val="566275"/>
                </a:solidFill>
              </a:rPr>
              <a:t>※ Drawer·Popup도 접근성, 권한, 감사, 오류 규칙의 적용 대상이다.</a:t>
            </a:r>
          </a:p>
        </p:txBody>
      </p:sp>
    </p:spTree>
    <p:extLst>
      <p:ext uri="{BB962C8B-B14F-4D97-AF65-F5344CB8AC3E}">
        <p14:creationId xmlns:p14="http://schemas.microsoft.com/office/powerpoint/2010/main" val="4288139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508205-54BB-475A-B21A-61D8C652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D5C"/>
          </a:solidFill>
          <a:ln xmlns:a="http://schemas.openxmlformats.org/drawingml/2006/main" w="9525">
            <a:solidFill>
              <a:srgbClr val="0B2D5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10443A-FD6E-4A26-ACBC-6EFF52C1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62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F77"/>
                </a:solidFill>
              </a:defRPr>
            </a:pPr>
            <a:r>
              <a:rPr sz="1200" b="1">
                <a:solidFill>
                  <a:srgbClr val="123F77"/>
                </a:solidFill>
              </a:rPr>
              <a:t>04. 메뉴 및 화면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91DF90-6A0D-4810-B040-87C000A9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23875"/>
            <a:ext cx="11315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메뉴는 역할별로 보이되 URL과 API 권한은 별도로 검증한다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369047-F421-4815-A1C6-FB6D285E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0490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3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A39266-3330-4C9E-B390-9DDFF8E3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95B69C-3C70-4D15-BF72-536ABF9A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627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66275"/>
                </a:solidFill>
              </a:defRPr>
            </a:pPr>
            <a:r>
              <a:rPr sz="975" b="0">
                <a:solidFill>
                  <a:srgbClr val="566275"/>
                </a:solidFill>
              </a:rPr>
              <a:t>DayLink Ops 화면설계서 · v1.0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640F0F-BAD6-46D8-92E1-53FD0460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6272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66275"/>
                </a:solidFill>
              </a:defRPr>
            </a:pPr>
            <a:r>
              <a:rPr sz="975" b="0">
                <a:solidFill>
                  <a:srgbClr val="566275"/>
                </a:solidFill>
              </a:rPr>
              <a:t>8 / 14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438150" y="1409700"/>
          <a:ext xmlns:a="http://schemas.openxmlformats.org/drawingml/2006/main" cx="11315700" cy="4238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2190750"/>
                <a:gridCol w="2667000"/>
                <a:gridCol w="1428750"/>
                <a:gridCol w="3600450"/>
              </a:tblGrid>
              <a:tr h="381000"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1Depth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2Depth/탭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대표 화면 ID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대표 권한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연결 규칙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</a:tr>
              <a:tr h="54292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대시보드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내 업무·SLA·운영지표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OPS-DASH-001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역할별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카드의 동일 필터로 LIST 이동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심사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입점 심사 / 상품 심사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REV-001~004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심사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LIST ↔ DETAIL, 결정 POP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54292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고객·파트너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고객 / 파트너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CUST-001~002 / PTN-001~002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CS·심사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LIST → DRAWER/DETAIL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예약·환불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예약 / 환불 승인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BKG-001~002 / RFD-001~002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CS·승인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타임라인에서 환불·사고 연결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54292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사고·정산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사고 / 정산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INC-001~002 / SET-001~002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운영·정산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연관 예약·원장으로 이동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콘텐츠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공지·홈 노출·쿠폰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OPS-CMS-001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콘텐츠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미리보기 후 예약 게시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54292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보안·시스템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감사 / 권한 / 작업 / 플래그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AUD / ACC / SYS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제한 역할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민감 메뉴는 권한 없으면 미노출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CEBD0F-2BB1-4A91-81A4-D704A87E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857875"/>
            <a:ext cx="113157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5D6"/>
          </a:solidFill>
          <a:ln xmlns:a="http://schemas.openxmlformats.org/drawingml/2006/main" w="9525">
            <a:solidFill>
              <a:srgbClr val="FFF5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114538-A67A-46C7-9A79-40A31217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86450"/>
            <a:ext cx="1101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A6700"/>
                </a:solidFill>
              </a:defRPr>
            </a:pPr>
            <a:r>
              <a:rPr sz="1350" b="1">
                <a:solidFill>
                  <a:srgbClr val="9A6700"/>
                </a:solidFill>
              </a:rPr>
              <a:t>중요: 메뉴 미노출은 UX 처리일 뿐이다. 직접 URL과 API 요청은 서버가 다시 권한을 검사한다.</a:t>
            </a:r>
          </a:p>
        </p:txBody>
      </p:sp>
    </p:spTree>
    <p:extLst>
      <p:ext uri="{BB962C8B-B14F-4D97-AF65-F5344CB8AC3E}">
        <p14:creationId xmlns:p14="http://schemas.microsoft.com/office/powerpoint/2010/main" val="838651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BF6337-226E-4B02-8F89-E38B6001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D5C"/>
          </a:solidFill>
          <a:ln xmlns:a="http://schemas.openxmlformats.org/drawingml/2006/main" w="9525">
            <a:solidFill>
              <a:srgbClr val="0B2D5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9F4ED1-79A0-4D08-B4A1-0E58B4D4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62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F77"/>
                </a:solidFill>
              </a:defRPr>
            </a:pPr>
            <a:r>
              <a:rPr sz="1200" b="1">
                <a:solidFill>
                  <a:srgbClr val="123F77"/>
                </a:solidFill>
              </a:rPr>
              <a:t>05. 공통 레이아웃·내비게이션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E011E1-E80F-4EB7-8FC0-35AC9238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23875"/>
            <a:ext cx="11315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모든 업무 화면은 동일한 셸과 작업 위치를 사용한다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BD3FE-1E67-4E43-8245-19E78817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0490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3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C76EA3-C499-4C15-B98F-49319F11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A67E56-F82B-49CC-A6F0-625EA760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627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66275"/>
                </a:solidFill>
              </a:defRPr>
            </a:pPr>
            <a:r>
              <a:rPr sz="975" b="0">
                <a:solidFill>
                  <a:srgbClr val="566275"/>
                </a:solidFill>
              </a:rPr>
              <a:t>DayLink Ops 화면설계서 · v1.0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02BDB4-AFED-4E4F-8C8F-E2847B91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6272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66275"/>
                </a:solidFill>
              </a:defRPr>
            </a:pPr>
            <a:r>
              <a:rPr sz="975" b="0">
                <a:solidFill>
                  <a:srgbClr val="566275"/>
                </a:solidFill>
              </a:rPr>
              <a:t>9 / 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5B666E-1C55-4D12-BB82-F9A26DAD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28750"/>
            <a:ext cx="7810500" cy="4476750"/>
          </a:xfrm>
          <a:prstGeom xmlns:a="http://schemas.openxmlformats.org/drawingml/2006/main" prst="roundRect">
            <a:avLst>
              <a:gd name="adj" fmla="val 6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3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B61404-C9B5-4E22-818C-252B60DB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2875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D5C"/>
          </a:solidFill>
          <a:ln xmlns:a="http://schemas.openxmlformats.org/drawingml/2006/main" w="9525">
            <a:solidFill>
              <a:srgbClr val="0B2D5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FDC968-AABE-4E52-A919-D2F64DAF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DayLink Ops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20662B-EAAA-4B89-817E-2AF2E273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5049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알림   사용자   로그아웃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A6DA38-8A49-4781-B09A-F4139254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62150"/>
            <a:ext cx="17145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B8C3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A5BE35-E0AD-4E5C-A7D2-7555F8DE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13716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대시보드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심사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고객·파트너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예약·환불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사고·정산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콘텐츠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보안·시스템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A1F516-FD85-461C-8327-38D5F5E0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114550"/>
            <a:ext cx="542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EAF1F8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F77"/>
                </a:solidFill>
              </a:defRPr>
            </a:pPr>
            <a:r>
              <a:rPr sz="1350" b="1">
                <a:solidFill>
                  <a:srgbClr val="123F77"/>
                </a:solidFill>
              </a:rPr>
              <a:t>① Breadcrumb / 화면명 / 화면 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B2DE0A-1148-44A5-9E35-0D9312CD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590800"/>
            <a:ext cx="542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275"/>
                </a:solidFill>
              </a:defRPr>
            </a:pPr>
            <a:r>
              <a:rPr sz="1350" b="0">
                <a:solidFill>
                  <a:srgbClr val="566275"/>
                </a:solidFill>
              </a:rPr>
              <a:t>② 조회조건·도구 영역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92E4A7-FABE-4F66-810C-B11CE770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57550"/>
            <a:ext cx="3333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3D1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③ 본문: 목록·상세·폼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8D70B7-E23D-4B95-86AB-11359B33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57550"/>
            <a:ext cx="19431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B8C3D1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F77"/>
                </a:solidFill>
              </a:defRPr>
            </a:pPr>
            <a:r>
              <a:rPr sz="1350" b="1">
                <a:solidFill>
                  <a:srgbClr val="123F77"/>
                </a:solidFill>
              </a:rPr>
              <a:t>④ 선택 상세</a:t>
            </a:r>
          </a:p>
          <a:p xmlns:a="http://schemas.openxmlformats.org/drawingml/2006/main">
            <a:pPr algn="l">
              <a:defRPr sz="1350" b="1">
                <a:solidFill>
                  <a:srgbClr val="123F77"/>
                </a:solidFill>
              </a:defRPr>
            </a:pPr>
            <a:r>
              <a:rPr sz="1350" b="1">
                <a:solidFill>
                  <a:srgbClr val="123F77"/>
                </a:solidFill>
              </a:rPr>
              <a:t>Drawer / Split pane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69F86B-5450-4805-9A76-1F3F2123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410200"/>
            <a:ext cx="542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275"/>
                </a:solidFill>
              </a:defRPr>
            </a:pPr>
            <a:r>
              <a:rPr sz="1200" b="0">
                <a:solidFill>
                  <a:srgbClr val="566275"/>
                </a:solidFill>
              </a:rPr>
              <a:t>⑤ 상태·traceId·기준시각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09DFBA-377A-46C5-BC7B-B7E217CC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287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F77"/>
                </a:solidFill>
              </a:defRPr>
            </a:pPr>
            <a:r>
              <a:rPr sz="1800" b="1">
                <a:solidFill>
                  <a:srgbClr val="123F77"/>
                </a:solidFill>
              </a:rPr>
              <a:t>공통 규칙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DDB464-EE3F-47AD-884C-1B573B0D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0500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F77"/>
                </a:solidFill>
              </a:defRPr>
            </a:pPr>
            <a:r>
              <a:rPr sz="1275" b="1">
                <a:solidFill>
                  <a:srgbClr val="123F77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D4BA17-BCDC-4FA8-8B0A-C9D2CDA8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905000"/>
            <a:ext cx="2447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헤더: 환경·알림·세션 상태 제공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C5BA97-D227-4750-A0E5-FBF77B9E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812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F77"/>
                </a:solidFill>
              </a:defRPr>
            </a:pPr>
            <a:r>
              <a:rPr sz="1275" b="1">
                <a:solidFill>
                  <a:srgbClr val="123F77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CD2538-6B12-4D8D-8B0B-DAC86A61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381250"/>
            <a:ext cx="2447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좌측 메뉴: 역할별 항목만 노출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07515E-FC83-4CE1-B557-E1CBDF0E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5750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F77"/>
                </a:solidFill>
              </a:defRPr>
            </a:pPr>
            <a:r>
              <a:rPr sz="1275" b="1">
                <a:solidFill>
                  <a:srgbClr val="123F77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F79F7C-E12A-4401-A982-C34FDF91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857500"/>
            <a:ext cx="2447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Breadcrumb: 직접 URL 진입에도 생성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2387A1-8945-4C29-91CA-A2D21880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337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F77"/>
                </a:solidFill>
              </a:defRPr>
            </a:pPr>
            <a:r>
              <a:rPr sz="1275" b="1">
                <a:solidFill>
                  <a:srgbClr val="123F77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0227F2-B63C-4CE2-96EB-C4E0EE62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333750"/>
            <a:ext cx="2447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화면명 옆에 화면 ID 표시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C36761-B455-4E1F-B39D-2C38D224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1000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F77"/>
                </a:solidFill>
              </a:defRPr>
            </a:pPr>
            <a:r>
              <a:rPr sz="1275" b="1">
                <a:solidFill>
                  <a:srgbClr val="123F77"/>
                </a:solidFill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2A135B-ED5D-4B0F-8D1D-E2709E4B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810000"/>
            <a:ext cx="2447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목록 선택은 URL로 복원 가능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7A6676-4BF8-4DCA-AA8D-B993927E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862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F77"/>
                </a:solidFill>
              </a:defRPr>
            </a:pPr>
            <a:r>
              <a:rPr sz="1275" b="1">
                <a:solidFill>
                  <a:srgbClr val="123F77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A3F4C1-49C3-4E64-88B0-C96740BB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286250"/>
            <a:ext cx="2447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Drawer 닫으면 목록 필터·스크롤 유지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2D13D8-6B8F-48BA-8F5C-D1D96E0A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6250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F77"/>
                </a:solidFill>
              </a:defRPr>
            </a:pPr>
            <a:r>
              <a:rPr sz="1275" b="1">
                <a:solidFill>
                  <a:srgbClr val="123F77"/>
                </a:solidFill>
              </a:rPr>
              <a:t>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852641-CDCE-4139-B883-1270A94E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762500"/>
            <a:ext cx="2447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명령 버튼은 본문 우상단에 정렬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59A284-A1D6-4910-AD97-298D067C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2387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F77"/>
                </a:solidFill>
              </a:defRPr>
            </a:pPr>
            <a:r>
              <a:rPr sz="1275" b="1">
                <a:solidFill>
                  <a:srgbClr val="123F77"/>
                </a:solidFill>
              </a:rPr>
              <a:t>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D8202C-9572-4730-994F-7CFEEE43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5238750"/>
            <a:ext cx="2447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traceId는 오류·문의 시 노출</a:t>
            </a:r>
          </a:p>
        </p:txBody>
      </p:sp>
    </p:spTree>
    <p:extLst>
      <p:ext uri="{BB962C8B-B14F-4D97-AF65-F5344CB8AC3E}">
        <p14:creationId xmlns:p14="http://schemas.microsoft.com/office/powerpoint/2010/main" val="9233521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1054D3-ACE6-41A9-B571-2DEDC4C0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D5C"/>
          </a:solidFill>
          <a:ln xmlns:a="http://schemas.openxmlformats.org/drawingml/2006/main" w="9525">
            <a:solidFill>
              <a:srgbClr val="0B2D5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F18BB4-521E-4916-89BC-8DD279B3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62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F77"/>
                </a:solidFill>
              </a:defRPr>
            </a:pPr>
            <a:r>
              <a:rPr sz="1200" b="1">
                <a:solidFill>
                  <a:srgbClr val="123F77"/>
                </a:solidFill>
              </a:rPr>
              <a:t>06. 공통 조회·그리드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CAC1FA-7854-421E-BCBC-5527BB06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23875"/>
            <a:ext cx="11315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조회조건과 그리드 상태는 URL과 서버 기준으로 유지한다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541084-D664-40A2-A587-B52EF54B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0490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3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D751E1-4B8C-4F44-BC36-86DF57E8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F73F89-9424-41AC-9E0A-57C90F84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627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66275"/>
                </a:solidFill>
              </a:defRPr>
            </a:pPr>
            <a:r>
              <a:rPr sz="975" b="0">
                <a:solidFill>
                  <a:srgbClr val="566275"/>
                </a:solidFill>
              </a:rPr>
              <a:t>DayLink Ops 화면설계서 · v1.0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00E660-E27C-45D4-9478-3BF128A9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6272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66275"/>
                </a:solidFill>
              </a:defRPr>
            </a:pPr>
            <a:r>
              <a:rPr sz="975" b="0">
                <a:solidFill>
                  <a:srgbClr val="566275"/>
                </a:solidFill>
              </a:rPr>
              <a:t>10 / 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0F3F06-15C6-400A-B65A-758F6753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28750"/>
            <a:ext cx="7524750" cy="8382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B8C3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8B7659-ABED-4D79-99D5-4BF544A1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기간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EAAB59-00C2-4BC8-9F38-F6C6C7F7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43050"/>
            <a:ext cx="1809750" cy="285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3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57C832-EABA-4B77-A96F-08A9DE37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5430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상태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170620-47CF-41CC-968A-0D54F2A9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543050"/>
            <a:ext cx="1524000" cy="285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3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CDC0C4-3A0A-4226-B569-A675A1C5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43050"/>
            <a:ext cx="666750" cy="285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23F77"/>
          </a:solidFill>
          <a:ln xmlns:a="http://schemas.openxmlformats.org/drawingml/2006/main" w="9525">
            <a:solidFill>
              <a:srgbClr val="123F77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검색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CC1A08-B04B-40A8-A41B-2DCA0C3C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543050"/>
            <a:ext cx="666750" cy="285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3D1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초기화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64D526-5FEC-4260-9EEA-166CA1D9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275"/>
                </a:solidFill>
              </a:defRPr>
            </a:pPr>
            <a:r>
              <a:rPr sz="1200" b="0">
                <a:solidFill>
                  <a:srgbClr val="566275"/>
                </a:solidFill>
              </a:rPr>
              <a:t>적용 조건: status=OPEN · from=2026-08-01 · sort=submittedAt,desc</a:t>
            </a:r>
          </a:p>
        </p:txBody>
      </p:sp>
      <p:graphicFrame>
        <p:nvGraphicFramePr>
          <p:cNvPr id="53" name=""/>
          <p:cNvGraphicFramePr/>
          <p:nvPr/>
        </p:nvGraphicFramePr>
        <p:xfrm>
          <a:off xmlns:a="http://schemas.openxmlformats.org/drawingml/2006/main" x="438150" y="2400300"/>
          <a:ext xmlns:a="http://schemas.openxmlformats.org/drawingml/2006/main" cx="7524750" cy="2362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"/>
                <a:gridCol w="952500"/>
                <a:gridCol w="1095375"/>
                <a:gridCol w="1476375"/>
                <a:gridCol w="952500"/>
                <a:gridCol w="1285875"/>
                <a:gridCol w="1209675"/>
              </a:tblGrid>
              <a:tr h="361950"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선택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상태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대상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담당자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제출시각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작업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</a:tr>
              <a:tr h="495300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RV-1042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검토대기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도자기 클래스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미배정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08.18 09:40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가져오기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□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RV-1041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재제출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쿠킹 체험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김심사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08.18 09:12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상세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495300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RV-1039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SLA임박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러닝 투어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박심사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08.18 08:35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상세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□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RV-1038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검토중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향수 공방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이심사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08.18 08:11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상세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F5F4F1-6304-4219-8907-F910FC7B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57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275"/>
                </a:solidFill>
              </a:defRPr>
            </a:pPr>
            <a:r>
              <a:rPr sz="1200" b="0">
                <a:solidFill>
                  <a:srgbClr val="566275"/>
                </a:solidFill>
              </a:rPr>
              <a:t>총 1,284건 · 표시 1–20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62CB7A-A9C1-4E56-81D4-99E5AC4D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857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123F77"/>
                </a:solidFill>
              </a:defRPr>
            </a:pPr>
            <a:r>
              <a:rPr sz="1200" b="0">
                <a:solidFill>
                  <a:srgbClr val="123F77"/>
                </a:solidFill>
              </a:rPr>
              <a:t>이전  1  2  3  …  다음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486322-EA5E-4EE8-AADF-8198DE55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28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F77"/>
                </a:solidFill>
              </a:defRPr>
            </a:pPr>
            <a:r>
              <a:rPr sz="1800" b="1">
                <a:solidFill>
                  <a:srgbClr val="123F77"/>
                </a:solidFill>
              </a:rPr>
              <a:t>필수 동작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9F24E9-0967-49C2-82B3-B8B83798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19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F77"/>
                </a:solidFill>
              </a:defRPr>
            </a:pPr>
            <a:r>
              <a:rPr sz="1275" b="1">
                <a:solidFill>
                  <a:srgbClr val="123F77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8D3146-D83C-410C-B1AC-DF814224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885950"/>
            <a:ext cx="2733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검색: Enter 또는 검색 버튼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875718-B64A-43F4-AEC9-C1C1A10E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95525"/>
            <a:ext cx="19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F77"/>
                </a:solidFill>
              </a:defRPr>
            </a:pPr>
            <a:r>
              <a:rPr sz="1275" b="1">
                <a:solidFill>
                  <a:srgbClr val="123F77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D2403D-5970-44C7-BCA7-68517969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295525"/>
            <a:ext cx="2733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초기화: 기본값 복원 후 즉시 조회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5914DF-655B-4BEB-ADAF-26640550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05100"/>
            <a:ext cx="19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F77"/>
                </a:solidFill>
              </a:defRPr>
            </a:pPr>
            <a:r>
              <a:rPr sz="1275" b="1">
                <a:solidFill>
                  <a:srgbClr val="123F77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3E913D-EDE5-4407-AA06-111A95B6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705100"/>
            <a:ext cx="2733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필터·정렬·선택 ID는 URL에 저장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9CFCEE-725C-4BDA-9662-784B9CF5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14675"/>
            <a:ext cx="19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F77"/>
                </a:solidFill>
              </a:defRPr>
            </a:pPr>
            <a:r>
              <a:rPr sz="1275" b="1">
                <a:solidFill>
                  <a:srgbClr val="123F77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EC786F-1505-450D-BDC8-93EF05CA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114675"/>
            <a:ext cx="2733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서버 정렬·cursor pagination 사용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FD1BB8-0059-40D8-81D5-F20B3158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24250"/>
            <a:ext cx="19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F77"/>
                </a:solidFill>
              </a:defRPr>
            </a:pPr>
            <a:r>
              <a:rPr sz="1275" b="1">
                <a:solidFill>
                  <a:srgbClr val="123F77"/>
                </a:solidFill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4CBEDE-9816-4ACC-A3DB-BFF21858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524250"/>
            <a:ext cx="2733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재조회 중 기존 결과는 유지하고 표시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D60F71-C6E1-4B77-92B1-07B5B206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33825"/>
            <a:ext cx="19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F77"/>
                </a:solidFill>
              </a:defRPr>
            </a:pPr>
            <a:r>
              <a:rPr sz="1275" b="1">
                <a:solidFill>
                  <a:srgbClr val="123F77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E946A2-4E3E-4A39-A02D-FBB0557B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933825"/>
            <a:ext cx="2733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API 오류와 0건 결과를 구분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C25E93-39FE-4B2A-8C63-2078D91B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43400"/>
            <a:ext cx="19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F77"/>
                </a:solidFill>
              </a:defRPr>
            </a:pPr>
            <a:r>
              <a:rPr sz="1275" b="1">
                <a:solidFill>
                  <a:srgbClr val="123F77"/>
                </a:solidFill>
              </a:rPr>
              <a:t>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62E9AF-E269-4FA8-9C15-D67C3E4A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343400"/>
            <a:ext cx="2733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열 너비·고정·밀도는 사용자별 저장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39C57A-FAE6-47C6-BD1C-EE4F2824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52975"/>
            <a:ext cx="19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F77"/>
                </a:solidFill>
              </a:defRPr>
            </a:pPr>
            <a:r>
              <a:rPr sz="1275" b="1">
                <a:solidFill>
                  <a:srgbClr val="123F77"/>
                </a:solidFill>
              </a:rPr>
              <a:t>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C57499-DEA0-44EC-A1B1-61B61DAE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752975"/>
            <a:ext cx="2733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대량 export는 비동기 작업으로 처리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A7F8A2-D53C-4848-842E-F5A4E856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524500"/>
            <a:ext cx="314325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ECEB"/>
          </a:solidFill>
          <a:ln xmlns:a="http://schemas.openxmlformats.org/drawingml/2006/main" w="9525">
            <a:solidFill>
              <a:srgbClr val="FEEC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41E230-5CB5-4EE5-877B-7555465A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581650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42318"/>
                </a:solidFill>
              </a:defRPr>
            </a:pPr>
            <a:r>
              <a:rPr sz="1200" b="1">
                <a:solidFill>
                  <a:srgbClr val="B42318"/>
                </a:solidFill>
              </a:rPr>
              <a:t>금지: 전체 데이터를 내려받아 브라우저에서 필터</a:t>
            </a:r>
          </a:p>
        </p:txBody>
      </p:sp>
    </p:spTree>
    <p:extLst>
      <p:ext uri="{BB962C8B-B14F-4D97-AF65-F5344CB8AC3E}">
        <p14:creationId xmlns:p14="http://schemas.microsoft.com/office/powerpoint/2010/main" val="20737662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CF4A3C-43DB-44A3-AD30-B642D210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D5C"/>
          </a:solidFill>
          <a:ln xmlns:a="http://schemas.openxmlformats.org/drawingml/2006/main" w="9525">
            <a:solidFill>
              <a:srgbClr val="0B2D5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A9764F-3424-479F-9707-5B4293B5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62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F77"/>
                </a:solidFill>
              </a:defRPr>
            </a:pPr>
            <a:r>
              <a:rPr sz="1200" b="1">
                <a:solidFill>
                  <a:srgbClr val="123F77"/>
                </a:solidFill>
              </a:rPr>
              <a:t>07. 공통 폼·검증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898B16-F62F-4169-AE66-D57CAACA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23875"/>
            <a:ext cx="11315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입력값 검증과 저장 충돌은 단계별로 구분해 안내한다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D2EF37-5658-4691-AFCA-2587897A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0490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3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81B2A0-31E6-44C6-8C4A-13D36DAA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581626-9F4A-4BE0-BE42-772A407C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627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66275"/>
                </a:solidFill>
              </a:defRPr>
            </a:pPr>
            <a:r>
              <a:rPr sz="975" b="0">
                <a:solidFill>
                  <a:srgbClr val="566275"/>
                </a:solidFill>
              </a:rPr>
              <a:t>DayLink Ops 화면설계서 · v1.0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850604-74D9-4D9A-9079-1D313549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6272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66275"/>
                </a:solidFill>
              </a:defRPr>
            </a:pPr>
            <a:r>
              <a:rPr sz="975" b="0">
                <a:solidFill>
                  <a:srgbClr val="566275"/>
                </a:solidFill>
              </a:rPr>
              <a:t>11 / 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1FFAC1-7C3C-4B56-826C-04B9ADBB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24000"/>
            <a:ext cx="2000250" cy="1066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B8C3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751C67-33E0-4B97-8366-7AFEB05C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3429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2D5C"/>
          </a:solidFill>
          <a:ln xmlns:a="http://schemas.openxmlformats.org/drawingml/2006/main" w="9525">
            <a:solidFill>
              <a:srgbClr val="0B2D5C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D05547-230D-4EB9-9D73-095653A6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09725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입력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A636C0-D24F-415D-AA7A-4B00CD6F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9775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66275"/>
                </a:solidFill>
              </a:defRPr>
            </a:pPr>
            <a:r>
              <a:rPr sz="1200" b="0">
                <a:solidFill>
                  <a:srgbClr val="566275"/>
                </a:solidFill>
              </a:rPr>
              <a:t>필수·형식·길이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9C6A8F-9287-4275-B480-F5ED7599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819275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F77"/>
                </a:solidFill>
              </a:defRPr>
            </a:pPr>
            <a:r>
              <a:rPr sz="1800" b="1">
                <a:solidFill>
                  <a:srgbClr val="123F77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BBE8A5-8E3D-4427-96B3-4626163D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524000"/>
            <a:ext cx="2000250" cy="1066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B8C3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308835-83E5-49CB-932F-59C09C31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657350"/>
            <a:ext cx="3429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2D5C"/>
          </a:solidFill>
          <a:ln xmlns:a="http://schemas.openxmlformats.org/drawingml/2006/main" w="9525">
            <a:solidFill>
              <a:srgbClr val="0B2D5C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DD7189-CA6E-4A73-9301-DF9EFC94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09725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클라이언트 검증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A081C7-6AC8-4EF0-B38E-25402208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09775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66275"/>
                </a:solidFill>
              </a:defRPr>
            </a:pPr>
            <a:r>
              <a:rPr sz="1200" b="0">
                <a:solidFill>
                  <a:srgbClr val="566275"/>
                </a:solidFill>
              </a:rPr>
              <a:t>즉시 확인 가능한 오류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C1E36F-581D-429C-BC39-494A09A7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19275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F77"/>
                </a:solidFill>
              </a:defRPr>
            </a:pPr>
            <a:r>
              <a:rPr sz="1800" b="1">
                <a:solidFill>
                  <a:srgbClr val="123F77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3ACF2F-4DB6-45E9-998E-3533F7B8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524000"/>
            <a:ext cx="2000250" cy="1066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B8C3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13B5C8-7137-4573-92F0-DEBA751D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657350"/>
            <a:ext cx="3429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2D5C"/>
          </a:solidFill>
          <a:ln xmlns:a="http://schemas.openxmlformats.org/drawingml/2006/main" w="9525">
            <a:solidFill>
              <a:srgbClr val="0B2D5C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D17719-FE15-4733-BDAD-09671B61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609725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서버 검증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7A9108-061D-46AB-AA00-B792CFA2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09775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66275"/>
                </a:solidFill>
              </a:defRPr>
            </a:pPr>
            <a:r>
              <a:rPr sz="1200" b="0">
                <a:solidFill>
                  <a:srgbClr val="566275"/>
                </a:solidFill>
              </a:rPr>
              <a:t>권한·업무 규칙·최신 상태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EB846A-3C8A-45AA-9B1C-8710174F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19275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F77"/>
                </a:solidFill>
              </a:defRPr>
            </a:pPr>
            <a:r>
              <a:rPr sz="1800" b="1">
                <a:solidFill>
                  <a:srgbClr val="123F77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39B17C-97A3-41B6-8F7A-A7567A45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524000"/>
            <a:ext cx="2000250" cy="1066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B8C3D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CC3B40-162F-4CC5-AA0E-81144B65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57350"/>
            <a:ext cx="3429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2D5C"/>
          </a:solidFill>
          <a:ln xmlns:a="http://schemas.openxmlformats.org/drawingml/2006/main" w="9525">
            <a:solidFill>
              <a:srgbClr val="0B2D5C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EB869D-AFD7-4043-AD8E-0A20E885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09725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저장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19F7B9-1A23-47F4-8241-60334732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09775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66275"/>
                </a:solidFill>
              </a:defRPr>
            </a:pPr>
            <a:r>
              <a:rPr sz="1200" b="0">
                <a:solidFill>
                  <a:srgbClr val="566275"/>
                </a:solidFill>
              </a:rPr>
              <a:t>멱등 키 · version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C35DDD-4374-4EB9-9549-9D1D980C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19275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F77"/>
                </a:solidFill>
              </a:defRPr>
            </a:pPr>
            <a:r>
              <a:rPr sz="1800" b="1">
                <a:solidFill>
                  <a:srgbClr val="123F77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A5E706-AB1C-4A28-9A10-E3F997E2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524000"/>
            <a:ext cx="2000250" cy="1066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06764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7BF816-53FD-48CB-84AA-1E2C05BB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657350"/>
            <a:ext cx="3429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2D5C"/>
          </a:solidFill>
          <a:ln xmlns:a="http://schemas.openxmlformats.org/drawingml/2006/main" w="9525">
            <a:solidFill>
              <a:srgbClr val="0B2D5C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EBE2EA-94C7-42BB-9424-685B17BB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609725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결과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7BE54A-F20A-4BAD-9393-28AF746F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09775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66275"/>
                </a:solidFill>
              </a:defRPr>
            </a:pPr>
            <a:r>
              <a:rPr sz="1200" b="0">
                <a:solidFill>
                  <a:srgbClr val="566275"/>
                </a:solidFill>
              </a:rPr>
              <a:t>성공·409·부분 실패</a:t>
            </a:r>
          </a:p>
        </p:txBody>
      </p:sp>
      <p:graphicFrame>
        <p:nvGraphicFramePr>
          <p:cNvPr id="64" name=""/>
          <p:cNvGraphicFramePr/>
          <p:nvPr/>
        </p:nvGraphicFramePr>
        <p:xfrm>
          <a:off xmlns:a="http://schemas.openxmlformats.org/drawingml/2006/main" x="438150" y="2952750"/>
          <a:ext xmlns:a="http://schemas.openxmlformats.org/drawingml/2006/main" cx="113157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4191000"/>
                <a:gridCol w="5600700"/>
              </a:tblGrid>
              <a:tr h="361950"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화면 동작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메시지·처리 기준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</a:tr>
              <a:tr h="400050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필수·형식 오류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필드 아래 + 화면 상단 요약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저장 버튼 클릭 시 첫 오류로 초점 이동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변경 없음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저장 버튼 비활성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불필요한 mutation을 보내지 않음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400050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저장 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버튼 잠금 + 진행 표시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중복 클릭 금지, 임의 자동 재전송 금지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이탈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미저장 변경이 있을 때만 경고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브라우저 이동·라우트 이동 모두 적용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400050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409 충돌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내 값과 서버 최신값 비교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조용한 덮어쓰기 금지, 새 version으로 재제출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서버 오류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입력값 유지 + traceId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안전한 재시도만 제공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86505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0A14CE-AC8B-4554-94F2-F0A2955D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D5C"/>
          </a:solidFill>
          <a:ln xmlns:a="http://schemas.openxmlformats.org/drawingml/2006/main" w="9525">
            <a:solidFill>
              <a:srgbClr val="0B2D5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CBB371-B1E7-40CE-B9D9-816FD007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62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F77"/>
                </a:solidFill>
              </a:defRPr>
            </a:pPr>
            <a:r>
              <a:rPr sz="1200" b="1">
                <a:solidFill>
                  <a:srgbClr val="123F77"/>
                </a:solidFill>
              </a:rPr>
              <a:t>08. 공통 버튼·팝업·명령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221A3F-0BBA-4C71-8DA8-709897D0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23875"/>
            <a:ext cx="11315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버튼과 팝업은 위험도에 따라 확인·사유·재인증을 강화한다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D998C4-8C1A-4A0D-A4DE-120D8ECE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0490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3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9F6DEC-6A02-4842-9496-A80DA9BE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83C4F-2867-4968-A0F7-5BFF9DE0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627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66275"/>
                </a:solidFill>
              </a:defRPr>
            </a:pPr>
            <a:r>
              <a:rPr sz="975" b="0">
                <a:solidFill>
                  <a:srgbClr val="566275"/>
                </a:solidFill>
              </a:rPr>
              <a:t>DayLink Ops 화면설계서 · v1.0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3BF477-DD25-499A-9193-909CD483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6272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66275"/>
                </a:solidFill>
              </a:defRPr>
            </a:pPr>
            <a:r>
              <a:rPr sz="975" b="0">
                <a:solidFill>
                  <a:srgbClr val="566275"/>
                </a:solidFill>
              </a:rPr>
              <a:t>12 / 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45E252-5379-4EFE-BDAC-05837D58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906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F77"/>
                </a:solidFill>
              </a:defRPr>
            </a:pPr>
            <a:r>
              <a:rPr sz="1800" b="1">
                <a:solidFill>
                  <a:srgbClr val="123F77"/>
                </a:solidFill>
              </a:rPr>
              <a:t>버튼 우선순위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C57007-7005-45C7-A424-1254BAB5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66900"/>
            <a:ext cx="11430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23F77"/>
          </a:solidFill>
          <a:ln xmlns:a="http://schemas.openxmlformats.org/drawingml/2006/main" w="9525">
            <a:solidFill>
              <a:srgbClr val="123F77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승인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D4623B-49C0-41E1-87F8-8E683093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66900"/>
            <a:ext cx="123825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3D1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임시저장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95A855-8CDB-4C2A-8699-62953B97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866900"/>
            <a:ext cx="11430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반려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4D48EF-AC21-4200-AD1D-876C3AEA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66900"/>
            <a:ext cx="123825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CA3AF"/>
                </a:solidFill>
              </a:defRPr>
            </a:pPr>
            <a:r>
              <a:rPr sz="1350" b="0">
                <a:solidFill>
                  <a:srgbClr val="9CA3AF"/>
                </a:solidFill>
              </a:rPr>
              <a:t>사용불가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5A06E7-4DCE-4B0F-9043-DEB237F3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400300"/>
            <a:ext cx="676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275"/>
                </a:solidFill>
              </a:defRPr>
            </a:pPr>
            <a:r>
              <a:rPr sz="1275" b="0">
                <a:solidFill>
                  <a:srgbClr val="566275"/>
                </a:solidFill>
              </a:rPr>
              <a:t>한 작업 영역의 주요 버튼은 1개를 원칙으로 하며, 파괴적 명령은 색과 문구로 분리한다.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C936B4-DEE4-4C7A-A0BC-CC4D89FB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3906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F77"/>
                </a:solidFill>
              </a:defRPr>
            </a:pPr>
            <a:r>
              <a:rPr sz="1800" b="1">
                <a:solidFill>
                  <a:srgbClr val="123F77"/>
                </a:solidFill>
              </a:rPr>
              <a:t>고위험 상태 변경 팝업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53FADF-A792-4501-ABFA-C2FA86EE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90700"/>
            <a:ext cx="3943350" cy="2076450"/>
          </a:xfrm>
          <a:prstGeom xmlns:a="http://schemas.openxmlformats.org/drawingml/2006/main" prst="roundRect">
            <a:avLst>
              <a:gd name="adj" fmla="val 18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3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C98E76-90C2-4AFD-BF26-CBB6D0F7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62150"/>
            <a:ext cx="348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예외 환불을 승인하시겠습니까?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5E8A50-00E7-4441-B809-AD096F91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62200"/>
            <a:ext cx="3486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275"/>
                </a:solidFill>
              </a:defRPr>
            </a:pPr>
            <a:r>
              <a:rPr sz="1200" b="0">
                <a:solidFill>
                  <a:srgbClr val="566275"/>
                </a:solidFill>
              </a:rPr>
              <a:t>대상: BK-20260818-1042</a:t>
            </a:r>
          </a:p>
          <a:p xmlns:a="http://schemas.openxmlformats.org/drawingml/2006/main">
            <a:pPr algn="l">
              <a:defRPr sz="1200" b="0">
                <a:solidFill>
                  <a:srgbClr val="566275"/>
                </a:solidFill>
              </a:defRPr>
            </a:pPr>
            <a:r>
              <a:rPr sz="1200" b="0">
                <a:solidFill>
                  <a:srgbClr val="566275"/>
                </a:solidFill>
              </a:rPr>
              <a:t>현재 실결제액: 90,000원</a:t>
            </a:r>
          </a:p>
          <a:p xmlns:a="http://schemas.openxmlformats.org/drawingml/2006/main">
            <a:pPr algn="l">
              <a:defRPr sz="1200" b="0">
                <a:solidFill>
                  <a:srgbClr val="566275"/>
                </a:solidFill>
              </a:defRPr>
            </a:pPr>
            <a:r>
              <a:rPr sz="1200" b="0">
                <a:solidFill>
                  <a:srgbClr val="566275"/>
                </a:solidFill>
              </a:rPr>
              <a:t>기환불액: 0원</a:t>
            </a:r>
          </a:p>
          <a:p xmlns:a="http://schemas.openxmlformats.org/drawingml/2006/main">
            <a:pPr algn="l">
              <a:defRPr sz="1200" b="0">
                <a:solidFill>
                  <a:srgbClr val="566275"/>
                </a:solidFill>
              </a:defRPr>
            </a:pPr>
            <a:r>
              <a:rPr sz="1200" b="0">
                <a:solidFill>
                  <a:srgbClr val="566275"/>
                </a:solidFill>
              </a:rPr>
              <a:t>요청 환불액: 90,000원</a:t>
            </a:r>
          </a:p>
          <a:p xmlns:a="http://schemas.openxmlformats.org/drawingml/2006/main">
            <a:pPr algn="l">
              <a:defRPr sz="1200" b="0">
                <a:solidFill>
                  <a:srgbClr val="566275"/>
                </a:solidFill>
              </a:defRPr>
            </a:pPr>
            <a:r>
              <a:rPr sz="1200" b="0">
                <a:solidFill>
                  <a:srgbClr val="566275"/>
                </a:solidFill>
              </a:rPr>
              <a:t>후속 효과: 환불 실행 + 정산 조정 생성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0D1A4B-9C8B-4993-B309-4E1A5E08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52800"/>
            <a:ext cx="93345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3D1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취소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5B1524-4236-445A-9E26-EEC8F79B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352800"/>
            <a:ext cx="120015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재인증 후 승인</a:t>
            </a:r>
          </a:p>
        </p:txBody>
      </p:sp>
      <p:graphicFrame>
        <p:nvGraphicFramePr>
          <p:cNvPr id="40" name=""/>
          <p:cNvGraphicFramePr/>
          <p:nvPr/>
        </p:nvGraphicFramePr>
        <p:xfrm>
          <a:off xmlns:a="http://schemas.openxmlformats.org/drawingml/2006/main" x="438150" y="4095750"/>
          <a:ext xmlns:a="http://schemas.openxmlformats.org/drawingml/2006/main" cx="11315700" cy="1733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3905250"/>
                <a:gridCol w="2952750"/>
                <a:gridCol w="3409950"/>
              </a:tblGrid>
              <a:tr h="361950"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위험도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필수 확인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추가 통제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대표 명령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</a:tr>
              <a:tr h="342900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낮음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대상·변경값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성공 메시지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필터 저장, 내부 메모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중간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현재/변경 상태·후속 효과·사유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Idempotency-Key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담당자 가져오기, 반려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342900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높음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금액·영향 건수·사유·증빙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재인증 또는 2차 승인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예외 환불, 정산 조정, 제재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최고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권한 영향·만료·사건번호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다른 슈퍼관리자 승인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역할 부여, 긴급 권한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29020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8895AF-81C8-4C7F-880D-9CE2823C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D5C"/>
          </a:solidFill>
          <a:ln xmlns:a="http://schemas.openxmlformats.org/drawingml/2006/main" w="9525">
            <a:solidFill>
              <a:srgbClr val="0B2D5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2F1EDC-E962-4181-83C3-784FF78A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62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F77"/>
                </a:solidFill>
              </a:defRPr>
            </a:pPr>
            <a:r>
              <a:rPr sz="1200" b="1">
                <a:solidFill>
                  <a:srgbClr val="123F77"/>
                </a:solidFill>
              </a:rPr>
              <a:t>09. 공통 상태·오류·세션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14307-FDC7-4E53-A6D2-8990E33B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23875"/>
            <a:ext cx="11315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로딩·빈 결과·오류·실시간 단절을 서로 다른 상태로 설계한다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9610DE-06C0-425F-B579-FDCB2CB5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0490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3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BCFCDF-1587-4D3F-8E7D-1FC2FCC9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F25144-5F50-4736-A983-F15BCED8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627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66275"/>
                </a:solidFill>
              </a:defRPr>
            </a:pPr>
            <a:r>
              <a:rPr sz="975" b="0">
                <a:solidFill>
                  <a:srgbClr val="566275"/>
                </a:solidFill>
              </a:rPr>
              <a:t>DayLink Ops 화면설계서 · v1.0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AA94A3-3209-4719-B771-55A5EF00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6272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66275"/>
                </a:solidFill>
              </a:defRPr>
            </a:pPr>
            <a:r>
              <a:rPr sz="975" b="0">
                <a:solidFill>
                  <a:srgbClr val="566275"/>
                </a:solidFill>
              </a:rPr>
              <a:t>13 / 14</a:t>
            </a:r>
          </a:p>
        </p:txBody>
      </p:sp>
      <p:graphicFrame>
        <p:nvGraphicFramePr>
          <p:cNvPr id="34" name=""/>
          <p:cNvGraphicFramePr/>
          <p:nvPr/>
        </p:nvGraphicFramePr>
        <p:xfrm>
          <a:off xmlns:a="http://schemas.openxmlformats.org/drawingml/2006/main" x="438150" y="1409700"/>
          <a:ext xmlns:a="http://schemas.openxmlformats.org/drawingml/2006/main" cx="714375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95375"/>
                <a:gridCol w="3714750"/>
                <a:gridCol w="2333625"/>
              </a:tblGrid>
              <a:tr h="361950"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상태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표시 원칙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사용자 행동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</a:tr>
              <a:tr h="419100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초기 로딩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화면 골격 + 로딩 문구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취소 가능한 작업만 취소 제공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재조회 중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기존 결과 유지 + 최신화 표시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중복 검색 방지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419100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0건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적용 조건과 0건 안내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조건 초기화·변경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401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세션 만료, 입력 임시 보존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재로그인 후 안전 복귀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419100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403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권한 없음, 존재 정보 최소화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이전 화면 또는 권한 문의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404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삭제·존재하지 않음 구분 가능 시 안내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목록 복귀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419100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409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다른 변경 존재·최신값 비교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새로고침 후 재검토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5xx/네트워크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업무 오류와 통신 오류 분리 + traceId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안전한 요청만 재시도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BFD84D-4647-425D-AD31-BA9594D3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09700"/>
            <a:ext cx="3800475" cy="3714750"/>
          </a:xfrm>
          <a:prstGeom xmlns:a="http://schemas.openxmlformats.org/drawingml/2006/main" prst="roundRect">
            <a:avLst>
              <a:gd name="adj" fmla="val 1026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B8C3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C1D33D-1F2B-47F4-B7CC-1CD2E297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57350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F77"/>
                </a:solidFill>
              </a:defRPr>
            </a:pPr>
            <a:r>
              <a:rPr sz="1800" b="1">
                <a:solidFill>
                  <a:srgbClr val="123F77"/>
                </a:solidFill>
              </a:rPr>
              <a:t>실시간 큐·세션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1E9681-688E-43A4-B5B0-B99D4B75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43125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F77"/>
                </a:solidFill>
              </a:defRPr>
            </a:pPr>
            <a:r>
              <a:rPr sz="1275" b="1">
                <a:solidFill>
                  <a:srgbClr val="123F77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3254C6-63D5-4E4C-B3B5-ED9A3B0A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43125"/>
            <a:ext cx="2924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SSE 연결 상태를 헤더에 표시한다.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EDA114-8F4D-4D47-9C7B-048131E3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43175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F77"/>
                </a:solidFill>
              </a:defRPr>
            </a:pPr>
            <a:r>
              <a:rPr sz="1275" b="1">
                <a:solidFill>
                  <a:srgbClr val="123F77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032CEE-EC5D-4041-BE32-2FACE6C0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43175"/>
            <a:ext cx="2924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단절 시 마지막 수신 시각을 표시한다.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7A6686-06D0-42D3-9C13-23B3314A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43225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F77"/>
                </a:solidFill>
              </a:defRPr>
            </a:pPr>
            <a:r>
              <a:rPr sz="1275" b="1">
                <a:solidFill>
                  <a:srgbClr val="123F77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2350F3-8F9C-4C40-BC91-EB59DBD4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43225"/>
            <a:ext cx="2924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재연결 후 cursor 이후 누락분을 조회한다.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D88140-477B-4BE8-AAB0-04B60E91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43275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F77"/>
                </a:solidFill>
              </a:defRPr>
            </a:pPr>
            <a:r>
              <a:rPr sz="1275" b="1">
                <a:solidFill>
                  <a:srgbClr val="123F77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24FC4A-7EDE-4156-99B7-1753AEAF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43275"/>
            <a:ext cx="2924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중복 사건은 eventId로 제거한다.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9E320D-6ABA-4F62-B773-65E9AE96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43325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F77"/>
                </a:solidFill>
              </a:defRPr>
            </a:pPr>
            <a:r>
              <a:rPr sz="1275" b="1">
                <a:solidFill>
                  <a:srgbClr val="123F77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2BAF92-A531-4238-AF20-717EE647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43325"/>
            <a:ext cx="2924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새 항목이 현재 스크롤을 밀지 않는다.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004676-01B5-4F30-B525-2794048D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43375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F77"/>
                </a:solidFill>
              </a:defRPr>
            </a:pPr>
            <a:r>
              <a:rPr sz="1275" b="1">
                <a:solidFill>
                  <a:srgbClr val="123F77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8BCA07-4F7B-4283-ADBE-8CE4B0D9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43375"/>
            <a:ext cx="2924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유휴 만료와 절대 만료를 구분한다.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0F3ECD-8C28-470E-A7CB-99F2B1B6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543425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F77"/>
                </a:solidFill>
              </a:defRPr>
            </a:pPr>
            <a:r>
              <a:rPr sz="1275" b="1">
                <a:solidFill>
                  <a:srgbClr val="123F77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D7666B-DF73-4BE0-905D-D0C7163D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43425"/>
            <a:ext cx="2924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고위험 명령은 재로그인 후 자동 재전송하지 않는다.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54DFBA-4EC4-41B2-8B1B-B822D54E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381625"/>
            <a:ext cx="11315700" cy="5905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5D6"/>
          </a:solidFill>
          <a:ln xmlns:a="http://schemas.openxmlformats.org/drawingml/2006/main" w="9525">
            <a:solidFill>
              <a:srgbClr val="FFF5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974714-01DA-440B-9982-85700A84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76875"/>
            <a:ext cx="1101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9A6700"/>
                </a:solidFill>
              </a:defRPr>
            </a:pPr>
            <a:r>
              <a:rPr sz="1425" b="1">
                <a:solidFill>
                  <a:srgbClr val="9A6700"/>
                </a:solidFill>
              </a:rPr>
              <a:t>멱등성이 확인되지 않은 승인·환불·역할 변경은 브라우저가 임의로 자동 재시도하지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5529393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395772-644B-4F3E-83AA-08521F62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D5C"/>
          </a:solidFill>
          <a:ln xmlns:a="http://schemas.openxmlformats.org/drawingml/2006/main" w="9525">
            <a:solidFill>
              <a:srgbClr val="0B2D5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01B4D-B516-4FD9-952E-14967B40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62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F77"/>
                </a:solidFill>
              </a:defRPr>
            </a:pPr>
            <a:r>
              <a:rPr sz="1200" b="1">
                <a:solidFill>
                  <a:srgbClr val="123F77"/>
                </a:solidFill>
              </a:rPr>
              <a:t>10. 권한·개인정보·감사·접근성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70425A-FD4A-4D00-BE9B-0E35D4E3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23875"/>
            <a:ext cx="11315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이 공통 기준을 통과한 뒤 화면별 상세설계를 시작한다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2FCD55-8ACC-4777-A1C6-9E4E3F34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0490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3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1AE50A-2201-4D32-8BE7-5ED22CFE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098E5C-233D-4E19-A2DC-0A599469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627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66275"/>
                </a:solidFill>
              </a:defRPr>
            </a:pPr>
            <a:r>
              <a:rPr sz="975" b="0">
                <a:solidFill>
                  <a:srgbClr val="566275"/>
                </a:solidFill>
              </a:rPr>
              <a:t>DayLink Ops 화면설계서 · v1.0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B06638-3549-457B-A949-EF023933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6272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66275"/>
                </a:solidFill>
              </a:defRPr>
            </a:pPr>
            <a:r>
              <a:rPr sz="975" b="0">
                <a:solidFill>
                  <a:srgbClr val="566275"/>
                </a:solidFill>
              </a:rPr>
              <a:t>14 / 14</a:t>
            </a:r>
          </a:p>
        </p:txBody>
      </p:sp>
      <p:graphicFrame>
        <p:nvGraphicFramePr>
          <p:cNvPr id="35" name=""/>
          <p:cNvGraphicFramePr/>
          <p:nvPr/>
        </p:nvGraphicFramePr>
        <p:xfrm>
          <a:off xmlns:a="http://schemas.openxmlformats.org/drawingml/2006/main" x="438150" y="1409700"/>
          <a:ext xmlns:a="http://schemas.openxmlformats.org/drawingml/2006/main" cx="67056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3429000"/>
                <a:gridCol w="2133600"/>
              </a:tblGrid>
              <a:tr h="361950"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영역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공통 기준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검증 포인트</a:t>
                      </a:r>
                    </a:p>
                  </a:txBody>
                  <a:tcPr marL="91440" marR="91440" marT="45720" marB="45720" anchor="ctr">
                    <a:solidFill>
                      <a:srgbClr val="0B2D5C"/>
                    </a:solidFill>
                  </a:tcPr>
                </a:tc>
              </a:tr>
              <a:tr h="50482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권한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메뉴 숨김과 API 권한을 분리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직접 URL·ID 변조도 거부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개인정보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목록은 마스킹, 원문은 사유·시간 제한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열람 자체를 감사 기록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50482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고위험 작업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재인증·2차 승인·자기 승인 금지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before/after·reason·traceId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감사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로그 수정·삭제 불가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export도 감사 대상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50482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키보드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표·Drawer·Modal 전체 접근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초점 이동·복귀·ESC 정책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오류 인지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색 외에 아이콘·문구·요약 제공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스크린리더 live region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504825"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성능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서버 페이지네이션·필요 구간 가상화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28575" rIns="57150" bIns="28575"/>
                    <a:lstStyle/>
                    <a:p>
                      <a:pPr algn="l"/>
                      <a:r>
                        <a:rPr sz="1200">
                          <a:solidFill>
                            <a:srgbClr val="172033"/>
                          </a:solidFill>
                        </a:rPr>
                        <a:t>입력 반응 100ms 목표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D32197-5834-49CC-8E44-EF903CFD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09700"/>
            <a:ext cx="4229100" cy="3905250"/>
          </a:xfrm>
          <a:prstGeom xmlns:a="http://schemas.openxmlformats.org/drawingml/2006/main" prst="roundRect">
            <a:avLst>
              <a:gd name="adj" fmla="val 976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B8C3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3CA4E5-688A-4860-B9CA-7343D526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76400"/>
            <a:ext cx="365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F77"/>
                </a:solidFill>
              </a:defRPr>
            </a:pPr>
            <a:r>
              <a:rPr sz="1800" b="1">
                <a:solidFill>
                  <a:srgbClr val="123F77"/>
                </a:solidFill>
              </a:rPr>
              <a:t>상세 화면설계 착수 조건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CB87B1-480D-4107-ADFD-D834D702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71700"/>
            <a:ext cx="19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7647"/>
                </a:solidFill>
              </a:defRPr>
            </a:pPr>
            <a:r>
              <a:rPr sz="1350" b="1">
                <a:solidFill>
                  <a:srgbClr val="067647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785538-4599-41DF-9D19-3C296A02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171700"/>
            <a:ext cx="3209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화면 ID와 메뉴 경로 승인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976987-8805-455F-8EEE-C6B62DAC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81275"/>
            <a:ext cx="19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7647"/>
                </a:solidFill>
              </a:defRPr>
            </a:pPr>
            <a:r>
              <a:rPr sz="1350" b="1">
                <a:solidFill>
                  <a:srgbClr val="067647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16E97D-0BAA-46D8-B742-37A238E6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581275"/>
            <a:ext cx="3209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대표 역할과 직접 URL 권한 승인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206BC9-DC31-470B-A61A-C7C62968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90850"/>
            <a:ext cx="19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7647"/>
                </a:solidFill>
              </a:defRPr>
            </a:pPr>
            <a:r>
              <a:rPr sz="1350" b="1">
                <a:solidFill>
                  <a:srgbClr val="067647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EEDCCA-CB89-412D-9F04-192CF5D5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990850"/>
            <a:ext cx="3209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LIST ↔ DETAIL ↔ POP 연결 승인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4F6936-E7D1-4327-8258-3DEB59EF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00425"/>
            <a:ext cx="19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7647"/>
                </a:solidFill>
              </a:defRPr>
            </a:pPr>
            <a:r>
              <a:rPr sz="1350" b="1">
                <a:solidFill>
                  <a:srgbClr val="067647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4553FE-5F28-4526-8DEF-3E898398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400425"/>
            <a:ext cx="3209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공통 조회·저장·오류 규칙 승인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74DAC0-D5C8-43EB-BF9C-CA091319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10000"/>
            <a:ext cx="19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7647"/>
                </a:solidFill>
              </a:defRPr>
            </a:pPr>
            <a:r>
              <a:rPr sz="1350" b="1">
                <a:solidFill>
                  <a:srgbClr val="067647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B8B385-130C-4976-B02E-A4D234C4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810000"/>
            <a:ext cx="3209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공통 메시지 코드 체계 승인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55B308-69AA-4B7C-B641-05286D44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19575"/>
            <a:ext cx="19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7647"/>
                </a:solidFill>
              </a:defRPr>
            </a:pPr>
            <a:r>
              <a:rPr sz="1350" b="1">
                <a:solidFill>
                  <a:srgbClr val="067647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D3C2E0-BBCA-496B-83A1-7D2122AB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219575"/>
            <a:ext cx="3209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API 상태·오류 코드 초안 확보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B1B7B1-3095-41E4-B100-C74EAC97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29150"/>
            <a:ext cx="19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7647"/>
                </a:solidFill>
              </a:defRPr>
            </a:pPr>
            <a:r>
              <a:rPr sz="1350" b="1">
                <a:solidFill>
                  <a:srgbClr val="067647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ACE3BE-6CCA-4E1A-9482-E0CDA182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629150"/>
            <a:ext cx="3209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P0 화면 우선순위 확정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7B86DC-030D-4568-9499-61F5B2AE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29200"/>
            <a:ext cx="123825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2D5C"/>
          </a:solidFill>
          <a:ln xmlns:a="http://schemas.openxmlformats.org/drawingml/2006/main" w="9525">
            <a:solidFill>
              <a:srgbClr val="0B2D5C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다음 산출물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3F054A-8BF9-4C88-8EC0-E572884B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010150"/>
            <a:ext cx="228600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3D1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P0 화면별 와이어프레임 + 번호별 상세 기능 설명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9CF7D9-D004-4275-9FAC-E7CCF169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72125"/>
            <a:ext cx="11315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EAF1F8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F77"/>
                </a:solidFill>
              </a:defRPr>
            </a:pPr>
            <a:r>
              <a:rPr sz="1425" b="1">
                <a:solidFill>
                  <a:srgbClr val="123F77"/>
                </a:solidFill>
              </a:rPr>
              <a:t>화면별 설명에는 표시조건·입력검증·처리순서·권한·메시지·예외·연결 API를 작성한다.</a:t>
            </a:r>
          </a:p>
        </p:txBody>
      </p:sp>
    </p:spTree>
    <p:extLst>
      <p:ext uri="{BB962C8B-B14F-4D97-AF65-F5344CB8AC3E}">
        <p14:creationId xmlns:p14="http://schemas.microsoft.com/office/powerpoint/2010/main" val="8442177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2026-08-18T08:51:46.1540000Z</dcterms:created>
  <dcterms:modified xsi:type="dcterms:W3CDTF">2026-08-18T08:51:46.1540000Z</dcterms:modified>
</coreProperties>
</file>